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9" r:id="rId24"/>
  </p:sldIdLst>
  <p:sldSz cx="12192000" cy="6858000"/>
  <p:notesSz cx="6858000" cy="9144000"/>
  <p:embeddedFontLst>
    <p:embeddedFont>
      <p:font typeface="Space Grotesk" charset="0"/>
      <p:regular r:id="rId26"/>
      <p:bold r:id="rId27"/>
    </p:embeddedFont>
    <p:embeddedFont>
      <p:font typeface="Urbanist" charset="0"/>
      <p:regular r:id="rId28"/>
      <p:bold r:id="rId29"/>
      <p:italic r:id="rId30"/>
      <p:boldItalic r:id="rId31"/>
    </p:embeddedFont>
    <p:embeddedFont>
      <p:font typeface="Urbanist Medium" charset="0"/>
      <p:regular r:id="rId32"/>
      <p:bold r:id="rId33"/>
      <p:italic r:id="rId34"/>
      <p:boldItalic r:id="rId35"/>
    </p:embeddedFont>
    <p:embeddedFont>
      <p:font typeface="Calibri" pitchFamily="34" charset="0"/>
      <p:regular r:id="rId36"/>
      <p:bold r:id="rId37"/>
      <p:italic r:id="rId38"/>
      <p:bold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EB34E"/>
    <a:srgbClr val="52D723"/>
    <a:srgbClr val="0A0951"/>
    <a:srgbClr val="569329"/>
    <a:srgbClr val="346F17"/>
    <a:srgbClr val="119317"/>
    <a:srgbClr val="457521"/>
    <a:srgbClr val="586D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F3A679D7-A810-49FC-8FC6-3A430CB288ED}">
  <a:tblStyle styleId="{F3A679D7-A810-49FC-8FC6-3A430CB288E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6" d="100"/>
          <a:sy n="76" d="100"/>
        </p:scale>
        <p:origin x="-480" y="-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font" Target="fonts/font1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1089767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e16f80bc3b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g3e16f80bc3b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e16f80bc3b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g3e16f80bc3b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e15679cbda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g3e15679cbda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e15679cbda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g3e15679cbda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1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4081462"/>
            <a:ext cx="11029950" cy="96202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305276" y="1814512"/>
            <a:ext cx="11581447" cy="1154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WONTX </a:t>
            </a:r>
            <a:r>
              <a:rPr lang="en-US" sz="7500" b="1" i="0" u="none" strike="noStrike" cap="none" dirty="0">
                <a:solidFill>
                  <a:srgbClr val="00B050"/>
                </a:solidFill>
                <a:latin typeface="Space Grotesk"/>
                <a:ea typeface="Space Grotesk"/>
                <a:cs typeface="Space Grotesk"/>
                <a:sym typeface="Space Grotesk"/>
              </a:rPr>
              <a:t>AI</a:t>
            </a:r>
            <a:endParaRPr dirty="0">
              <a:solidFill>
                <a:srgbClr val="00B050"/>
              </a:solidFill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581025" y="2957512"/>
            <a:ext cx="110299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Neural Behavioral Biometric Authentication System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771525" y="4471987"/>
            <a:ext cx="1064895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00B050"/>
                </a:solidFill>
                <a:latin typeface="Urbanist"/>
                <a:ea typeface="Urbanist"/>
                <a:cs typeface="Urbanist"/>
                <a:sym typeface="Urbanist"/>
              </a:rPr>
              <a:t>S</a:t>
            </a:r>
            <a:r>
              <a:rPr lang="en-GB" sz="1800" b="1" i="0" u="none" strike="noStrike" cap="none" dirty="0" smtClean="0">
                <a:solidFill>
                  <a:srgbClr val="00B050"/>
                </a:solidFill>
                <a:latin typeface="Urbanist"/>
                <a:ea typeface="Urbanist"/>
                <a:cs typeface="Urbanist"/>
                <a:sym typeface="Urbanist"/>
              </a:rPr>
              <a:t>trengthening </a:t>
            </a:r>
            <a:r>
              <a:rPr lang="en-GB" sz="1800" b="1" dirty="0">
                <a:solidFill>
                  <a:srgbClr val="00B050"/>
                </a:solidFill>
                <a:latin typeface="Urbanist"/>
                <a:ea typeface="Urbanist"/>
                <a:cs typeface="Urbanist"/>
                <a:sym typeface="Urbanist"/>
              </a:rPr>
              <a:t>S</a:t>
            </a:r>
            <a:r>
              <a:rPr lang="en-GB" sz="1800" b="1" i="0" u="none" strike="noStrike" cap="none" dirty="0" smtClean="0">
                <a:solidFill>
                  <a:srgbClr val="00B050"/>
                </a:solidFill>
                <a:latin typeface="Urbanist"/>
                <a:ea typeface="Urbanist"/>
                <a:cs typeface="Urbanist"/>
                <a:sym typeface="Urbanist"/>
              </a:rPr>
              <a:t>ecurity through Habitual </a:t>
            </a:r>
            <a:r>
              <a:rPr lang="en-GB" sz="1800" b="1" dirty="0">
                <a:solidFill>
                  <a:srgbClr val="00B050"/>
                </a:solidFill>
                <a:latin typeface="Urbanist"/>
                <a:ea typeface="Urbanist"/>
                <a:cs typeface="Urbanist"/>
                <a:sym typeface="Urbanist"/>
              </a:rPr>
              <a:t>A</a:t>
            </a:r>
            <a:r>
              <a:rPr lang="en-GB" sz="1800" b="1" i="0" u="none" strike="noStrike" cap="none" dirty="0" smtClean="0">
                <a:solidFill>
                  <a:srgbClr val="00B050"/>
                </a:solidFill>
                <a:latin typeface="Urbanist"/>
                <a:ea typeface="Urbanist"/>
                <a:cs typeface="Urbanist"/>
                <a:sym typeface="Urbanist"/>
              </a:rPr>
              <a:t>nalysis</a:t>
            </a:r>
            <a:endParaRPr lang="en-GB" sz="1800" b="1" dirty="0">
              <a:solidFill>
                <a:srgbClr val="00B05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581025" y="2265562"/>
            <a:ext cx="5490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00B050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Definition of "WONT"</a:t>
            </a:r>
            <a:endParaRPr dirty="0">
              <a:solidFill>
                <a:srgbClr val="00B050"/>
              </a:solidFill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581025" y="2758987"/>
            <a:ext cx="5229300" cy="5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Derived from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Old English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(</a:t>
            </a:r>
            <a:r>
              <a:rPr lang="en-US" sz="1500" b="0" i="1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gewunod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), meaning: 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1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"One's customary behavior or habit."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581063" y="3448912"/>
            <a:ext cx="52293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The "X" stands for the </a:t>
            </a:r>
            <a:r>
              <a:rPr lang="en-US" sz="1500" b="1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Neural Cross-verification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and the </a:t>
            </a:r>
            <a:r>
              <a:rPr lang="en-US" sz="1500" b="1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Advanced Security Factor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sp>
        <p:nvSpPr>
          <p:cNvPr id="97" name="Google Shape;97;p14"/>
          <p:cNvSpPr txBox="1"/>
          <p:nvPr/>
        </p:nvSpPr>
        <p:spPr>
          <a:xfrm>
            <a:off x="581063" y="4366637"/>
            <a:ext cx="522930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 dirty="0">
                <a:solidFill>
                  <a:srgbClr val="00B050"/>
                </a:solidFill>
                <a:latin typeface="Urbanist"/>
                <a:ea typeface="Urbanist"/>
                <a:cs typeface="Urbanist"/>
                <a:sym typeface="Urbanist"/>
              </a:rPr>
              <a:t>"Security that learns your habits, not just your passwords."</a:t>
            </a:r>
            <a:endParaRPr dirty="0">
              <a:solidFill>
                <a:srgbClr val="00B050"/>
              </a:solidFill>
            </a:endParaRPr>
          </a:p>
        </p:txBody>
      </p:sp>
      <p:pic>
        <p:nvPicPr>
          <p:cNvPr id="98" name="Google Shape;98;p14" descr="image.png"/>
          <p:cNvPicPr preferRelativeResize="0"/>
          <p:nvPr/>
        </p:nvPicPr>
        <p:blipFill rotWithShape="1">
          <a:blip r:embed="rId4">
            <a:alphaModFix/>
          </a:blip>
          <a:srcRect t="1740" r="4114" b="3185"/>
          <a:stretch/>
        </p:blipFill>
        <p:spPr>
          <a:xfrm>
            <a:off x="6832700" y="0"/>
            <a:ext cx="53593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771525" y="960387"/>
            <a:ext cx="11381422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Behind the Name: WONTX</a:t>
            </a:r>
            <a:endParaRPr dirty="0"/>
          </a:p>
        </p:txBody>
      </p:sp>
      <p:sp>
        <p:nvSpPr>
          <p:cNvPr id="100" name="Google Shape;100;p14"/>
          <p:cNvSpPr/>
          <p:nvPr/>
        </p:nvSpPr>
        <p:spPr>
          <a:xfrm>
            <a:off x="581025" y="960387"/>
            <a:ext cx="76200" cy="58102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92D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747069"/>
            <a:ext cx="3486150" cy="270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2747069"/>
            <a:ext cx="3486150" cy="270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4825" y="2747069"/>
            <a:ext cx="3486150" cy="270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 descr="image.png"/>
          <p:cNvPicPr preferRelativeResize="0"/>
          <p:nvPr/>
        </p:nvPicPr>
        <p:blipFill rotWithShape="1">
          <a:blip r:embed="rId6">
            <a:alphaModFix/>
            <a:duotone>
              <a:prstClr val="black"/>
              <a:srgbClr val="52D723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876300" y="3042344"/>
            <a:ext cx="28956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876300" y="3690044"/>
            <a:ext cx="304038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B4975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Continuous Auth</a:t>
            </a:r>
            <a:endParaRPr dirty="0"/>
          </a:p>
        </p:txBody>
      </p:sp>
      <p:sp>
        <p:nvSpPr>
          <p:cNvPr id="111" name="Google Shape;111;p15"/>
          <p:cNvSpPr txBox="1"/>
          <p:nvPr/>
        </p:nvSpPr>
        <p:spPr>
          <a:xfrm>
            <a:off x="876300" y="4204394"/>
            <a:ext cx="2895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Passwords are validated once. WONTX validates the user every second based on activity rhythm.</a:t>
            </a:r>
            <a:endParaRPr dirty="0"/>
          </a:p>
        </p:txBody>
      </p:sp>
      <p:pic>
        <p:nvPicPr>
          <p:cNvPr id="112" name="Google Shape;112;p15" descr="image.png"/>
          <p:cNvPicPr preferRelativeResize="0"/>
          <p:nvPr/>
        </p:nvPicPr>
        <p:blipFill rotWithShape="1">
          <a:blip r:embed="rId7">
            <a:alphaModFix/>
            <a:duotone>
              <a:prstClr val="black"/>
              <a:srgbClr val="52D723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4648200" y="3042344"/>
            <a:ext cx="28956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4648200" y="3690044"/>
            <a:ext cx="304038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B4975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Zero Trust</a:t>
            </a:r>
            <a:endParaRPr dirty="0"/>
          </a:p>
        </p:txBody>
      </p:sp>
      <p:sp>
        <p:nvSpPr>
          <p:cNvPr id="114" name="Google Shape;114;p15"/>
          <p:cNvSpPr txBox="1"/>
          <p:nvPr/>
        </p:nvSpPr>
        <p:spPr>
          <a:xfrm>
            <a:off x="4648200" y="4204394"/>
            <a:ext cx="28956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Implements a 'Never Trust, Always Verify' model for high</a:t>
            </a: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security workstations.</a:t>
            </a:r>
            <a:endParaRPr/>
          </a:p>
        </p:txBody>
      </p:sp>
      <p:pic>
        <p:nvPicPr>
          <p:cNvPr id="115" name="Google Shape;115;p15" descr="image.png"/>
          <p:cNvPicPr preferRelativeResize="0"/>
          <p:nvPr/>
        </p:nvPicPr>
        <p:blipFill rotWithShape="1">
          <a:blip r:embed="rId8">
            <a:alphaModFix/>
            <a:duotone>
              <a:prstClr val="black"/>
              <a:srgbClr val="52D723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8420100" y="3042344"/>
            <a:ext cx="28956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8420100" y="3690044"/>
            <a:ext cx="304038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B4975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Passive Security</a:t>
            </a:r>
            <a:endParaRPr dirty="0"/>
          </a:p>
        </p:txBody>
      </p:sp>
      <p:sp>
        <p:nvSpPr>
          <p:cNvPr id="117" name="Google Shape;117;p15"/>
          <p:cNvSpPr txBox="1"/>
          <p:nvPr/>
        </p:nvSpPr>
        <p:spPr>
          <a:xfrm>
            <a:off x="8420100" y="4204394"/>
            <a:ext cx="2895600" cy="1038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Detects intruders without requiring them to type a </a:t>
            </a:r>
            <a:r>
              <a:rPr lang="en-US" sz="1500" b="0" i="0" u="none" strike="noStrike" cap="none" dirty="0" smtClean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password</a:t>
            </a:r>
            <a:r>
              <a:rPr lang="en-US" sz="150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sp>
        <p:nvSpPr>
          <p:cNvPr id="118" name="Google Shape;118;p15"/>
          <p:cNvSpPr txBox="1"/>
          <p:nvPr/>
        </p:nvSpPr>
        <p:spPr>
          <a:xfrm>
            <a:off x="771525" y="960387"/>
            <a:ext cx="11381422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Purpose of WONTX AI</a:t>
            </a:r>
            <a:endParaRPr/>
          </a:p>
        </p:txBody>
      </p:sp>
      <p:sp>
        <p:nvSpPr>
          <p:cNvPr id="119" name="Google Shape;119;p15"/>
          <p:cNvSpPr/>
          <p:nvPr/>
        </p:nvSpPr>
        <p:spPr>
          <a:xfrm>
            <a:off x="581025" y="960387"/>
            <a:ext cx="76200" cy="58102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5" name="Google Shape;125;p16"/>
          <p:cNvGrpSpPr/>
          <p:nvPr/>
        </p:nvGrpSpPr>
        <p:grpSpPr>
          <a:xfrm>
            <a:off x="581025" y="2503869"/>
            <a:ext cx="11291325" cy="1850250"/>
            <a:chOff x="581025" y="3204269"/>
            <a:chExt cx="11291325" cy="1850250"/>
          </a:xfrm>
        </p:grpSpPr>
        <p:sp>
          <p:nvSpPr>
            <p:cNvPr id="126" name="Google Shape;126;p16"/>
            <p:cNvSpPr txBox="1"/>
            <p:nvPr/>
          </p:nvSpPr>
          <p:spPr>
            <a:xfrm>
              <a:off x="581025" y="3204269"/>
              <a:ext cx="54906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0" i="0" u="none" strike="noStrike" cap="none" dirty="0">
                  <a:solidFill>
                    <a:srgbClr val="00B050"/>
                  </a:solidFill>
                  <a:latin typeface="Urbanist Medium"/>
                  <a:ea typeface="Urbanist Medium"/>
                  <a:cs typeface="Urbanist Medium"/>
                  <a:sym typeface="Urbanist Medium"/>
                </a:rPr>
                <a:t>The Core Stack</a:t>
              </a:r>
              <a:endParaRPr dirty="0">
                <a:solidFill>
                  <a:srgbClr val="00B050"/>
                </a:solidFill>
              </a:endParaRPr>
            </a:p>
          </p:txBody>
        </p:sp>
        <p:sp>
          <p:nvSpPr>
            <p:cNvPr id="127" name="Google Shape;127;p16"/>
            <p:cNvSpPr txBox="1"/>
            <p:nvPr/>
          </p:nvSpPr>
          <p:spPr>
            <a:xfrm>
              <a:off x="6381750" y="3204269"/>
              <a:ext cx="54906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0" i="0" u="none" strike="noStrike" cap="none" dirty="0">
                  <a:solidFill>
                    <a:srgbClr val="00B050"/>
                  </a:solidFill>
                  <a:latin typeface="Urbanist Medium"/>
                  <a:ea typeface="Urbanist Medium"/>
                  <a:cs typeface="Urbanist Medium"/>
                  <a:sym typeface="Urbanist Medium"/>
                </a:rPr>
                <a:t>System Requirements</a:t>
              </a:r>
              <a:endParaRPr dirty="0">
                <a:solidFill>
                  <a:srgbClr val="00B050"/>
                </a:solidFill>
              </a:endParaRPr>
            </a:p>
          </p:txBody>
        </p:sp>
        <p:sp>
          <p:nvSpPr>
            <p:cNvPr id="128" name="Google Shape;128;p16"/>
            <p:cNvSpPr txBox="1"/>
            <p:nvPr/>
          </p:nvSpPr>
          <p:spPr>
            <a:xfrm>
              <a:off x="962025" y="3680519"/>
              <a:ext cx="4848300" cy="23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810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i="0" u="none" strike="noStrike" cap="none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Language:</a:t>
              </a:r>
              <a:r>
                <a:rPr lang="en-US" sz="1500" b="0" i="0" u="none" strike="noStrike" cap="none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 Python 3.10+</a:t>
              </a:r>
              <a:endParaRPr/>
            </a:p>
          </p:txBody>
        </p:sp>
        <p:sp>
          <p:nvSpPr>
            <p:cNvPr id="129" name="Google Shape;129;p16"/>
            <p:cNvSpPr txBox="1"/>
            <p:nvPr/>
          </p:nvSpPr>
          <p:spPr>
            <a:xfrm>
              <a:off x="962025" y="4061519"/>
              <a:ext cx="4848300" cy="23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810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i="0" u="none" strike="noStrike" cap="none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Database:</a:t>
              </a:r>
              <a:r>
                <a:rPr lang="en-US" sz="1500" b="0" i="0" u="none" strike="noStrike" cap="none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 SQLite3 (Local telemetry storage)</a:t>
              </a:r>
              <a:endParaRPr dirty="0"/>
            </a:p>
          </p:txBody>
        </p:sp>
        <p:sp>
          <p:nvSpPr>
            <p:cNvPr id="130" name="Google Shape;130;p16"/>
            <p:cNvSpPr txBox="1"/>
            <p:nvPr/>
          </p:nvSpPr>
          <p:spPr>
            <a:xfrm>
              <a:off x="962025" y="4442519"/>
              <a:ext cx="4848300" cy="23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810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i="0" u="none" strike="noStrike" cap="none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OS Integration:</a:t>
              </a:r>
              <a:r>
                <a:rPr lang="en-US" sz="1500" b="0" i="0" u="none" strike="noStrike" cap="none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 Windows/Linux Native APIs</a:t>
              </a:r>
              <a:endParaRPr dirty="0"/>
            </a:p>
          </p:txBody>
        </p:sp>
        <p:sp>
          <p:nvSpPr>
            <p:cNvPr id="131" name="Google Shape;131;p16"/>
            <p:cNvSpPr txBox="1"/>
            <p:nvPr/>
          </p:nvSpPr>
          <p:spPr>
            <a:xfrm>
              <a:off x="962025" y="4823519"/>
              <a:ext cx="4848300" cy="23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810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i="0" u="none" strike="noStrike" cap="none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IDE:</a:t>
              </a:r>
              <a:r>
                <a:rPr lang="en-US" sz="1500" b="0" i="0" u="none" strike="noStrike" cap="none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 VS Code / PyCharm</a:t>
              </a:r>
              <a:endParaRPr/>
            </a:p>
          </p:txBody>
        </p:sp>
        <p:sp>
          <p:nvSpPr>
            <p:cNvPr id="132" name="Google Shape;132;p16"/>
            <p:cNvSpPr txBox="1"/>
            <p:nvPr/>
          </p:nvSpPr>
          <p:spPr>
            <a:xfrm>
              <a:off x="6762750" y="3680519"/>
              <a:ext cx="4848300" cy="23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810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 i="0" u="none" strike="noStrike" cap="none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Background processing capability</a:t>
              </a:r>
              <a:endParaRPr/>
            </a:p>
          </p:txBody>
        </p:sp>
        <p:sp>
          <p:nvSpPr>
            <p:cNvPr id="133" name="Google Shape;133;p16"/>
            <p:cNvSpPr txBox="1"/>
            <p:nvPr/>
          </p:nvSpPr>
          <p:spPr>
            <a:xfrm>
              <a:off x="6762750" y="4061519"/>
              <a:ext cx="4848300" cy="23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810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 i="0" u="none" strike="noStrike" cap="none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Low</a:t>
              </a:r>
              <a:r>
                <a:rPr lang="en-US" sz="150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500" b="0" i="0" u="none" strike="noStrike" cap="none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latency I/O hooks</a:t>
              </a:r>
              <a:endParaRPr/>
            </a:p>
          </p:txBody>
        </p:sp>
        <p:sp>
          <p:nvSpPr>
            <p:cNvPr id="134" name="Google Shape;134;p16"/>
            <p:cNvSpPr txBox="1"/>
            <p:nvPr/>
          </p:nvSpPr>
          <p:spPr>
            <a:xfrm>
              <a:off x="6762750" y="4442519"/>
              <a:ext cx="4848300" cy="23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810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 i="0" u="none" strike="noStrike" cap="none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Minimum 4GB RAM for real</a:t>
              </a:r>
              <a:r>
                <a:rPr lang="en-US" sz="1500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500" b="0" i="0" u="none" strike="noStrike" cap="none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time RL processing</a:t>
              </a:r>
              <a:endParaRPr dirty="0"/>
            </a:p>
          </p:txBody>
        </p:sp>
      </p:grpSp>
      <p:sp>
        <p:nvSpPr>
          <p:cNvPr id="135" name="Google Shape;135;p16"/>
          <p:cNvSpPr txBox="1"/>
          <p:nvPr/>
        </p:nvSpPr>
        <p:spPr>
          <a:xfrm>
            <a:off x="771525" y="960387"/>
            <a:ext cx="11381422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Technologies &amp; Tools</a:t>
            </a:r>
            <a:endParaRPr/>
          </a:p>
        </p:txBody>
      </p:sp>
      <p:sp>
        <p:nvSpPr>
          <p:cNvPr id="136" name="Google Shape;136;p16"/>
          <p:cNvSpPr/>
          <p:nvPr/>
        </p:nvSpPr>
        <p:spPr>
          <a:xfrm>
            <a:off x="581025" y="960387"/>
            <a:ext cx="76200" cy="58102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5693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383344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2" name="Google Shape;142;p17"/>
          <p:cNvGraphicFramePr/>
          <p:nvPr>
            <p:extLst>
              <p:ext uri="{D42A27DB-BD31-4B8C-83A1-F6EECF244321}">
                <p14:modId xmlns:p14="http://schemas.microsoft.com/office/powerpoint/2010/main" val="1398196873"/>
              </p:ext>
            </p:extLst>
          </p:nvPr>
        </p:nvGraphicFramePr>
        <p:xfrm>
          <a:off x="771525" y="2420888"/>
          <a:ext cx="11029950" cy="31813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19250"/>
                <a:gridCol w="8310700"/>
              </a:tblGrid>
              <a:tr h="5302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u="none" strike="noStrike" cap="none" dirty="0" smtClean="0">
                          <a:solidFill>
                            <a:srgbClr val="00B050"/>
                          </a:solidFill>
                          <a:latin typeface="Urbanist Medium" charset="0"/>
                          <a:ea typeface="Urbanist Medium" charset="0"/>
                          <a:cs typeface="Urbanist Medium" charset="0"/>
                          <a:sym typeface="Urbanist Medium"/>
                        </a:rPr>
                        <a:t>Library</a:t>
                      </a:r>
                      <a:endParaRPr lang="en-US" sz="2000" b="1" dirty="0" smtClean="0">
                        <a:solidFill>
                          <a:srgbClr val="00B050"/>
                        </a:solidFill>
                        <a:latin typeface="Urbanist Medium" charset="0"/>
                        <a:ea typeface="Urbanist Medium" charset="0"/>
                        <a:cs typeface="Urbanist Medium" charset="0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u="none" strike="noStrike" cap="none" baseline="0" dirty="0" smtClean="0">
                          <a:solidFill>
                            <a:srgbClr val="00B050"/>
                          </a:solidFill>
                          <a:latin typeface="Urbanist Medium" charset="0"/>
                          <a:ea typeface="Urbanist Medium" charset="0"/>
                          <a:cs typeface="Urbanist Medium" charset="0"/>
                          <a:sym typeface="Urbanist Medium"/>
                        </a:rPr>
                        <a:t>Purpose in WONTX AI</a:t>
                      </a:r>
                      <a:endParaRPr lang="en-US" sz="1800" b="1" dirty="0" smtClean="0">
                        <a:solidFill>
                          <a:srgbClr val="00B050"/>
                        </a:solidFill>
                        <a:latin typeface="Urbanist Medium" charset="0"/>
                        <a:ea typeface="Urbanist Medium" charset="0"/>
                        <a:cs typeface="Urbanist Medium" charset="0"/>
                      </a:endParaRPr>
                    </a:p>
                  </a:txBody>
                  <a:tcPr marL="63500" marR="63500" marT="25400" marB="25400" anchor="ctr"/>
                </a:tc>
              </a:tr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strike="noStrike" cap="none" dirty="0" err="1">
                          <a:solidFill>
                            <a:schemeClr val="bg1">
                              <a:lumMod val="85000"/>
                            </a:schemeClr>
                          </a:solidFill>
                          <a:latin typeface="Urbanist" charset="0"/>
                          <a:ea typeface="Urbanist" charset="0"/>
                          <a:cs typeface="Urbanist" charset="0"/>
                          <a:sym typeface="Urbanist"/>
                        </a:rPr>
                        <a:t>Pynput</a:t>
                      </a:r>
                      <a:endParaRPr sz="1800" dirty="0">
                        <a:solidFill>
                          <a:schemeClr val="bg1">
                            <a:lumMod val="85000"/>
                          </a:schemeClr>
                        </a:solidFill>
                        <a:latin typeface="Urbanist" charset="0"/>
                        <a:ea typeface="Urbanist" charset="0"/>
                        <a:cs typeface="Urbanist" charset="0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Urbanist" charset="0"/>
                          <a:ea typeface="Urbanist" charset="0"/>
                          <a:cs typeface="Urbanist" charset="0"/>
                          <a:sym typeface="Urbanist"/>
                        </a:rPr>
                        <a:t>Global input hooks for Mouse &amp; Keyboard monitoring.</a:t>
                      </a:r>
                      <a:endParaRPr sz="1800" dirty="0">
                        <a:solidFill>
                          <a:schemeClr val="bg1">
                            <a:lumMod val="85000"/>
                          </a:schemeClr>
                        </a:solidFill>
                        <a:latin typeface="Urbanist" charset="0"/>
                        <a:ea typeface="Urbanist" charset="0"/>
                        <a:cs typeface="Urbanist" charset="0"/>
                      </a:endParaRPr>
                    </a:p>
                  </a:txBody>
                  <a:tcPr marL="63500" marR="63500" marT="25400" marB="25400" anchor="ctr"/>
                </a:tc>
              </a:tr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strike="noStrike" cap="none" dirty="0" err="1">
                          <a:solidFill>
                            <a:schemeClr val="bg1">
                              <a:lumMod val="85000"/>
                            </a:schemeClr>
                          </a:solidFill>
                          <a:latin typeface="Urbanist" charset="0"/>
                          <a:ea typeface="Urbanist" charset="0"/>
                          <a:cs typeface="Urbanist" charset="0"/>
                          <a:sym typeface="Urbanist"/>
                        </a:rPr>
                        <a:t>NumPy</a:t>
                      </a:r>
                      <a:endParaRPr sz="1800" dirty="0">
                        <a:solidFill>
                          <a:schemeClr val="bg1">
                            <a:lumMod val="85000"/>
                          </a:schemeClr>
                        </a:solidFill>
                        <a:latin typeface="Urbanist" charset="0"/>
                        <a:ea typeface="Urbanist" charset="0"/>
                        <a:cs typeface="Urbanist" charset="0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Urbanist" charset="0"/>
                          <a:ea typeface="Urbanist" charset="0"/>
                          <a:cs typeface="Urbanist" charset="0"/>
                          <a:sym typeface="Urbanist"/>
                        </a:rPr>
                        <a:t>Matrix operations for the Q-Table and vector calculations.</a:t>
                      </a:r>
                      <a:endParaRPr sz="1800" dirty="0">
                        <a:solidFill>
                          <a:schemeClr val="bg1">
                            <a:lumMod val="85000"/>
                          </a:schemeClr>
                        </a:solidFill>
                        <a:latin typeface="Urbanist" charset="0"/>
                        <a:ea typeface="Urbanist" charset="0"/>
                        <a:cs typeface="Urbanist" charset="0"/>
                      </a:endParaRPr>
                    </a:p>
                  </a:txBody>
                  <a:tcPr marL="63500" marR="63500" marT="25400" marB="25400" anchor="ctr"/>
                </a:tc>
              </a:tr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strike="noStrike" cap="none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Urbanist" charset="0"/>
                          <a:ea typeface="Urbanist" charset="0"/>
                          <a:cs typeface="Urbanist" charset="0"/>
                          <a:sym typeface="Urbanist"/>
                        </a:rPr>
                        <a:t>Pandas</a:t>
                      </a:r>
                      <a:endParaRPr sz="1800" dirty="0">
                        <a:solidFill>
                          <a:schemeClr val="bg1">
                            <a:lumMod val="85000"/>
                          </a:schemeClr>
                        </a:solidFill>
                        <a:latin typeface="Urbanist" charset="0"/>
                        <a:ea typeface="Urbanist" charset="0"/>
                        <a:cs typeface="Urbanist" charset="0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Urbanist" charset="0"/>
                          <a:ea typeface="Urbanist" charset="0"/>
                          <a:cs typeface="Urbanist" charset="0"/>
                          <a:sym typeface="Urbanist"/>
                        </a:rPr>
                        <a:t>Data manipulation and telemetry analysis.</a:t>
                      </a:r>
                      <a:endParaRPr sz="1800" dirty="0">
                        <a:solidFill>
                          <a:schemeClr val="bg1">
                            <a:lumMod val="85000"/>
                          </a:schemeClr>
                        </a:solidFill>
                        <a:latin typeface="Urbanist" charset="0"/>
                        <a:ea typeface="Urbanist" charset="0"/>
                        <a:cs typeface="Urbanist" charset="0"/>
                      </a:endParaRPr>
                    </a:p>
                  </a:txBody>
                  <a:tcPr marL="63500" marR="63500" marT="25400" marB="25400" anchor="ctr"/>
                </a:tc>
              </a:tr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bg1">
                              <a:lumMod val="85000"/>
                            </a:schemeClr>
                          </a:solidFill>
                          <a:latin typeface="Urbanist" charset="0"/>
                          <a:ea typeface="Urbanist" charset="0"/>
                          <a:cs typeface="Urbanist" charset="0"/>
                          <a:sym typeface="Urbanist"/>
                        </a:rPr>
                        <a:t>Scikit-Learn</a:t>
                      </a:r>
                      <a:endParaRPr sz="1800">
                        <a:solidFill>
                          <a:schemeClr val="bg1">
                            <a:lumMod val="85000"/>
                          </a:schemeClr>
                        </a:solidFill>
                        <a:latin typeface="Urbanist" charset="0"/>
                        <a:ea typeface="Urbanist" charset="0"/>
                        <a:cs typeface="Urbanist" charset="0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Urbanist" charset="0"/>
                          <a:ea typeface="Urbanist" charset="0"/>
                          <a:cs typeface="Urbanist" charset="0"/>
                          <a:sym typeface="Urbanist"/>
                        </a:rPr>
                        <a:t>Preprocessing and normalization of behavioral data.</a:t>
                      </a:r>
                      <a:endParaRPr sz="1800" dirty="0">
                        <a:solidFill>
                          <a:schemeClr val="bg1">
                            <a:lumMod val="85000"/>
                          </a:schemeClr>
                        </a:solidFill>
                        <a:latin typeface="Urbanist" charset="0"/>
                        <a:ea typeface="Urbanist" charset="0"/>
                        <a:cs typeface="Urbanist" charset="0"/>
                      </a:endParaRPr>
                    </a:p>
                  </a:txBody>
                  <a:tcPr marL="63500" marR="63500" marT="25400" marB="25400" anchor="ctr"/>
                </a:tc>
              </a:tr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bg1">
                              <a:lumMod val="85000"/>
                            </a:schemeClr>
                          </a:solidFill>
                          <a:latin typeface="Urbanist" charset="0"/>
                          <a:ea typeface="Urbanist" charset="0"/>
                          <a:cs typeface="Urbanist" charset="0"/>
                          <a:sym typeface="Urbanist"/>
                        </a:rPr>
                        <a:t>CustomTkinter</a:t>
                      </a:r>
                      <a:endParaRPr sz="1800">
                        <a:solidFill>
                          <a:schemeClr val="bg1">
                            <a:lumMod val="85000"/>
                          </a:schemeClr>
                        </a:solidFill>
                        <a:latin typeface="Urbanist" charset="0"/>
                        <a:ea typeface="Urbanist" charset="0"/>
                        <a:cs typeface="Urbanist" charset="0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Urbanist" charset="0"/>
                          <a:ea typeface="Urbanist" charset="0"/>
                          <a:cs typeface="Urbanist" charset="0"/>
                          <a:sym typeface="Urbanist"/>
                        </a:rPr>
                        <a:t>Modern Dark-themed UI for the System Dashboard.</a:t>
                      </a:r>
                      <a:endParaRPr sz="1800" dirty="0">
                        <a:solidFill>
                          <a:schemeClr val="bg1">
                            <a:lumMod val="85000"/>
                          </a:schemeClr>
                        </a:solidFill>
                        <a:latin typeface="Urbanist" charset="0"/>
                        <a:ea typeface="Urbanist" charset="0"/>
                        <a:cs typeface="Urbanist" charset="0"/>
                      </a:endParaRPr>
                    </a:p>
                  </a:txBody>
                  <a:tcPr marL="63500" marR="63500" marT="25400" marB="25400" anchor="ctr"/>
                </a:tc>
              </a:tr>
            </a:tbl>
          </a:graphicData>
        </a:graphic>
      </p:graphicFrame>
      <p:sp>
        <p:nvSpPr>
          <p:cNvPr id="155" name="Google Shape;155;p17"/>
          <p:cNvSpPr txBox="1"/>
          <p:nvPr/>
        </p:nvSpPr>
        <p:spPr>
          <a:xfrm>
            <a:off x="771525" y="960387"/>
            <a:ext cx="11381422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Library Breakdown</a:t>
            </a:r>
            <a:endParaRPr dirty="0"/>
          </a:p>
        </p:txBody>
      </p:sp>
      <p:sp>
        <p:nvSpPr>
          <p:cNvPr id="156" name="Google Shape;156;p17"/>
          <p:cNvSpPr/>
          <p:nvPr/>
        </p:nvSpPr>
        <p:spPr>
          <a:xfrm>
            <a:off x="581025" y="960387"/>
            <a:ext cx="76200" cy="58102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20025"/>
            <a:ext cx="125713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8"/>
          <p:cNvSpPr/>
          <p:nvPr/>
        </p:nvSpPr>
        <p:spPr>
          <a:xfrm>
            <a:off x="581025" y="3137594"/>
            <a:ext cx="2719200" cy="1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8"/>
          <p:cNvSpPr/>
          <p:nvPr/>
        </p:nvSpPr>
        <p:spPr>
          <a:xfrm>
            <a:off x="3300263" y="3137594"/>
            <a:ext cx="8310600" cy="1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/>
          <p:cNvSpPr/>
          <p:nvPr/>
        </p:nvSpPr>
        <p:spPr>
          <a:xfrm>
            <a:off x="581025" y="4666357"/>
            <a:ext cx="2719200" cy="96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/>
          <p:cNvSpPr/>
          <p:nvPr/>
        </p:nvSpPr>
        <p:spPr>
          <a:xfrm>
            <a:off x="3300263" y="4666357"/>
            <a:ext cx="8310600" cy="96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4" name="Google Shape;174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3456384"/>
            <a:ext cx="10648949" cy="1012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06004" y="3751659"/>
            <a:ext cx="8979842" cy="421481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8"/>
          <p:cNvSpPr txBox="1"/>
          <p:nvPr/>
        </p:nvSpPr>
        <p:spPr>
          <a:xfrm>
            <a:off x="1009650" y="581025"/>
            <a:ext cx="109314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M</a:t>
            </a:r>
            <a:r>
              <a:rPr lang="en-US" sz="31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athematical</a:t>
            </a:r>
            <a:r>
              <a:rPr lang="en-US" sz="315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O</a:t>
            </a:r>
            <a:r>
              <a:rPr lang="en-US" sz="31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ptimization</a:t>
            </a:r>
            <a:endParaRPr b="1"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77" name="Google Shape;177;p18"/>
          <p:cNvSpPr/>
          <p:nvPr/>
        </p:nvSpPr>
        <p:spPr>
          <a:xfrm>
            <a:off x="771525" y="581025"/>
            <a:ext cx="76200" cy="60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46F1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8"/>
          <p:cNvSpPr txBox="1"/>
          <p:nvPr/>
        </p:nvSpPr>
        <p:spPr>
          <a:xfrm>
            <a:off x="771525" y="2694384"/>
            <a:ext cx="1064910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i="0" u="none" strike="noStrike" cap="none" dirty="0">
                <a:solidFill>
                  <a:srgbClr val="B0B0B0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The WONTX Brain utilizes the </a:t>
            </a:r>
            <a:r>
              <a:rPr lang="en-US" sz="1500" i="0" u="none" strike="noStrike" cap="none" dirty="0">
                <a:solidFill>
                  <a:srgbClr val="00B050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Bellman Equation </a:t>
            </a:r>
            <a:r>
              <a:rPr lang="en-US" sz="1500" i="0" u="none" strike="noStrike" cap="none" dirty="0">
                <a:solidFill>
                  <a:srgbClr val="B0B0B0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for Q-Value optimization:</a:t>
            </a:r>
            <a:endParaRPr dirty="0"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179" name="Google Shape;179;p18"/>
          <p:cNvSpPr txBox="1"/>
          <p:nvPr/>
        </p:nvSpPr>
        <p:spPr>
          <a:xfrm>
            <a:off x="771525" y="4944665"/>
            <a:ext cx="3422700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CEB34E"/>
                </a:solidFill>
                <a:latin typeface="Space Grotesk"/>
                <a:ea typeface="Space Grotesk"/>
                <a:cs typeface="Space Grotesk"/>
                <a:sym typeface="Space Grotesk"/>
              </a:rPr>
              <a:t>α (Alpha):</a:t>
            </a:r>
            <a:r>
              <a:rPr lang="en-US" sz="1050" b="0" i="0" u="none" strike="noStrike" cap="none" dirty="0">
                <a:solidFill>
                  <a:srgbClr val="CEB34E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-US" sz="1050" b="0" i="0" u="none" strike="noStrike" cap="none" dirty="0" smtClean="0">
                <a:solidFill>
                  <a:srgbClr val="CEB34E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-US" sz="1050" b="0" i="0" u="none" strike="noStrike" cap="none" dirty="0" smtClean="0">
                <a:solidFill>
                  <a:srgbClr val="B0B0B0"/>
                </a:solidFill>
                <a:latin typeface="Space Grotesk"/>
                <a:ea typeface="Space Grotesk"/>
                <a:cs typeface="Space Grotesk"/>
                <a:sym typeface="Space Grotesk"/>
              </a:rPr>
              <a:t>Learning </a:t>
            </a:r>
            <a:r>
              <a:rPr lang="en-US" sz="1050" b="0" i="0" u="none" strike="noStrike" cap="none" dirty="0">
                <a:solidFill>
                  <a:srgbClr val="B0B0B0"/>
                </a:solidFill>
                <a:latin typeface="Space Grotesk"/>
                <a:ea typeface="Space Grotesk"/>
                <a:cs typeface="Space Grotesk"/>
                <a:sym typeface="Space Grotesk"/>
              </a:rPr>
              <a:t>Rate</a:t>
            </a:r>
            <a:endParaRPr dirty="0"/>
          </a:p>
        </p:txBody>
      </p:sp>
      <p:sp>
        <p:nvSpPr>
          <p:cNvPr id="180" name="Google Shape;180;p18"/>
          <p:cNvSpPr txBox="1"/>
          <p:nvPr/>
        </p:nvSpPr>
        <p:spPr>
          <a:xfrm>
            <a:off x="4384625" y="4944665"/>
            <a:ext cx="3422700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CEB34E"/>
                </a:solidFill>
                <a:latin typeface="Space Grotesk"/>
                <a:ea typeface="Space Grotesk"/>
                <a:cs typeface="Space Grotesk"/>
                <a:sym typeface="Space Grotesk"/>
              </a:rPr>
              <a:t>γ (Gamma</a:t>
            </a:r>
            <a:r>
              <a:rPr lang="en-US" sz="1050" b="1" i="0" u="none" strike="noStrike" cap="none" dirty="0" smtClean="0">
                <a:solidFill>
                  <a:srgbClr val="CEB34E"/>
                </a:solidFill>
                <a:latin typeface="Space Grotesk"/>
                <a:ea typeface="Space Grotesk"/>
                <a:cs typeface="Space Grotesk"/>
                <a:sym typeface="Space Grotesk"/>
              </a:rPr>
              <a:t>): </a:t>
            </a:r>
            <a:r>
              <a:rPr lang="en-US" sz="1050" b="0" i="0" u="none" strike="noStrike" cap="none" dirty="0" smtClean="0">
                <a:solidFill>
                  <a:srgbClr val="CEB34E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-US" sz="1050" b="0" i="0" u="none" strike="noStrike" cap="none" dirty="0">
                <a:solidFill>
                  <a:srgbClr val="B0B0B0"/>
                </a:solidFill>
                <a:latin typeface="Space Grotesk"/>
                <a:ea typeface="Space Grotesk"/>
                <a:cs typeface="Space Grotesk"/>
                <a:sym typeface="Space Grotesk"/>
              </a:rPr>
              <a:t>Discount Factor</a:t>
            </a:r>
            <a:endParaRPr dirty="0"/>
          </a:p>
        </p:txBody>
      </p:sp>
      <p:sp>
        <p:nvSpPr>
          <p:cNvPr id="181" name="Google Shape;181;p18"/>
          <p:cNvSpPr txBox="1"/>
          <p:nvPr/>
        </p:nvSpPr>
        <p:spPr>
          <a:xfrm>
            <a:off x="7997725" y="4944665"/>
            <a:ext cx="3422700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CEB34E"/>
                </a:solidFill>
                <a:latin typeface="Space Grotesk"/>
                <a:ea typeface="Space Grotesk"/>
                <a:cs typeface="Space Grotesk"/>
                <a:sym typeface="Space Grotesk"/>
              </a:rPr>
              <a:t>R</a:t>
            </a:r>
            <a:r>
              <a:rPr lang="en-US" sz="1050" b="1" i="0" u="none" strike="noStrike" cap="none" dirty="0" smtClean="0">
                <a:solidFill>
                  <a:srgbClr val="CEB34E"/>
                </a:solidFill>
                <a:latin typeface="Space Grotesk"/>
                <a:ea typeface="Space Grotesk"/>
                <a:cs typeface="Space Grotesk"/>
                <a:sym typeface="Space Grotesk"/>
              </a:rPr>
              <a:t>: </a:t>
            </a:r>
            <a:r>
              <a:rPr lang="en-US" sz="1050" b="0" i="0" u="none" strike="noStrike" cap="none" dirty="0" smtClean="0">
                <a:solidFill>
                  <a:srgbClr val="CEB34E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-US" sz="1050" b="0" i="0" u="none" strike="noStrike" cap="none" dirty="0">
                <a:solidFill>
                  <a:srgbClr val="B0B0B0"/>
                </a:solidFill>
                <a:latin typeface="Space Grotesk"/>
                <a:ea typeface="Space Grotesk"/>
                <a:cs typeface="Space Grotesk"/>
                <a:sym typeface="Space Grotesk"/>
              </a:rPr>
              <a:t>Reward Magnitude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9"/>
          <p:cNvSpPr/>
          <p:nvPr/>
        </p:nvSpPr>
        <p:spPr>
          <a:xfrm>
            <a:off x="581025" y="3137594"/>
            <a:ext cx="2719200" cy="1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9"/>
          <p:cNvSpPr/>
          <p:nvPr/>
        </p:nvSpPr>
        <p:spPr>
          <a:xfrm>
            <a:off x="3300263" y="3137594"/>
            <a:ext cx="8310600" cy="1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9"/>
          <p:cNvSpPr/>
          <p:nvPr/>
        </p:nvSpPr>
        <p:spPr>
          <a:xfrm>
            <a:off x="581025" y="3656707"/>
            <a:ext cx="2719200" cy="96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9"/>
          <p:cNvSpPr/>
          <p:nvPr/>
        </p:nvSpPr>
        <p:spPr>
          <a:xfrm>
            <a:off x="3300263" y="3656707"/>
            <a:ext cx="8310600" cy="96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9"/>
          <p:cNvSpPr/>
          <p:nvPr/>
        </p:nvSpPr>
        <p:spPr>
          <a:xfrm>
            <a:off x="581025" y="4161532"/>
            <a:ext cx="2719200" cy="96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9"/>
          <p:cNvSpPr/>
          <p:nvPr/>
        </p:nvSpPr>
        <p:spPr>
          <a:xfrm>
            <a:off x="3300263" y="4161532"/>
            <a:ext cx="8310600" cy="96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9"/>
          <p:cNvSpPr/>
          <p:nvPr/>
        </p:nvSpPr>
        <p:spPr>
          <a:xfrm>
            <a:off x="581025" y="4666357"/>
            <a:ext cx="2719200" cy="96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9"/>
          <p:cNvSpPr/>
          <p:nvPr/>
        </p:nvSpPr>
        <p:spPr>
          <a:xfrm>
            <a:off x="3300263" y="4666357"/>
            <a:ext cx="8310600" cy="96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9"/>
          <p:cNvSpPr/>
          <p:nvPr/>
        </p:nvSpPr>
        <p:spPr>
          <a:xfrm>
            <a:off x="581025" y="5171182"/>
            <a:ext cx="2719200" cy="96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9"/>
          <p:cNvSpPr/>
          <p:nvPr/>
        </p:nvSpPr>
        <p:spPr>
          <a:xfrm>
            <a:off x="3300263" y="5171182"/>
            <a:ext cx="8310600" cy="96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9"/>
          <p:cNvSpPr/>
          <p:nvPr/>
        </p:nvSpPr>
        <p:spPr>
          <a:xfrm>
            <a:off x="581025" y="5676007"/>
            <a:ext cx="2719200" cy="96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9"/>
          <p:cNvSpPr/>
          <p:nvPr/>
        </p:nvSpPr>
        <p:spPr>
          <a:xfrm>
            <a:off x="3300263" y="5676007"/>
            <a:ext cx="8310600" cy="96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8" name="Google Shape;198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2014537"/>
            <a:ext cx="2555081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69481" y="2014537"/>
            <a:ext cx="2555081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67437" y="2014537"/>
            <a:ext cx="2555081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865393" y="2014537"/>
            <a:ext cx="2555081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906190" y="2328862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9"/>
          <p:cNvSpPr txBox="1"/>
          <p:nvPr/>
        </p:nvSpPr>
        <p:spPr>
          <a:xfrm>
            <a:off x="1017686" y="2805112"/>
            <a:ext cx="2062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Sensor Tier</a:t>
            </a:r>
            <a:endParaRPr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205" name="Google Shape;205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566046" y="2328862"/>
            <a:ext cx="3619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9"/>
          <p:cNvSpPr txBox="1"/>
          <p:nvPr/>
        </p:nvSpPr>
        <p:spPr>
          <a:xfrm>
            <a:off x="3715642" y="2805112"/>
            <a:ext cx="2062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Vectorization</a:t>
            </a:r>
            <a:endParaRPr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207" name="Google Shape;207;p19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302103" y="2328862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9"/>
          <p:cNvSpPr txBox="1"/>
          <p:nvPr/>
        </p:nvSpPr>
        <p:spPr>
          <a:xfrm>
            <a:off x="6413599" y="2805112"/>
            <a:ext cx="2062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Inference Core</a:t>
            </a:r>
            <a:endParaRPr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209" name="Google Shape;209;p19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000059" y="2328862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9"/>
          <p:cNvSpPr txBox="1"/>
          <p:nvPr/>
        </p:nvSpPr>
        <p:spPr>
          <a:xfrm>
            <a:off x="9111555" y="2805112"/>
            <a:ext cx="2062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Enforcement</a:t>
            </a:r>
            <a:endParaRPr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11" name="Google Shape;211;p19"/>
          <p:cNvSpPr txBox="1"/>
          <p:nvPr/>
        </p:nvSpPr>
        <p:spPr>
          <a:xfrm>
            <a:off x="1009650" y="581025"/>
            <a:ext cx="109314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WONTX </a:t>
            </a:r>
            <a:r>
              <a:rPr lang="en-US" sz="31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System Architecture</a:t>
            </a:r>
            <a:endParaRPr sz="3150" b="1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150" b="1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12" name="Google Shape;212;p19"/>
          <p:cNvSpPr/>
          <p:nvPr/>
        </p:nvSpPr>
        <p:spPr>
          <a:xfrm>
            <a:off x="771525" y="581025"/>
            <a:ext cx="76200" cy="60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9"/>
          <p:cNvSpPr txBox="1"/>
          <p:nvPr/>
        </p:nvSpPr>
        <p:spPr>
          <a:xfrm>
            <a:off x="1066800" y="3005137"/>
            <a:ext cx="1964400" cy="4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i="0" u="none" strike="noStrike" cap="none" dirty="0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rPr>
              <a:t>Low-level hooks for mouse &amp; keyboard telemetry.</a:t>
            </a:r>
            <a:endParaRPr dirty="0"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14" name="Google Shape;214;p19"/>
          <p:cNvSpPr txBox="1"/>
          <p:nvPr/>
        </p:nvSpPr>
        <p:spPr>
          <a:xfrm>
            <a:off x="3764756" y="3005137"/>
            <a:ext cx="1964400" cy="4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i="0" u="none" strike="noStrike" cap="none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rPr>
              <a:t>Conversion of raw timestamps into feature vectors.</a:t>
            </a:r>
            <a:endParaRPr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15" name="Google Shape;215;p19"/>
          <p:cNvSpPr txBox="1"/>
          <p:nvPr/>
        </p:nvSpPr>
        <p:spPr>
          <a:xfrm>
            <a:off x="6462712" y="3005137"/>
            <a:ext cx="1964400" cy="4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i="0" u="none" strike="noStrike" cap="none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rPr>
              <a:t>Reinforcement Learning brain decision matrix.</a:t>
            </a:r>
            <a:endParaRPr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16" name="Google Shape;216;p19"/>
          <p:cNvSpPr txBox="1"/>
          <p:nvPr/>
        </p:nvSpPr>
        <p:spPr>
          <a:xfrm>
            <a:off x="9160668" y="3005137"/>
            <a:ext cx="1964400" cy="4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i="0" u="none" strike="noStrike" cap="none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rPr>
              <a:t>Lockstation protocols &amp; security alerting.</a:t>
            </a:r>
            <a:endParaRPr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818507"/>
            <a:ext cx="5229225" cy="256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818507"/>
            <a:ext cx="5229225" cy="2562225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0"/>
          <p:cNvSpPr txBox="1"/>
          <p:nvPr/>
        </p:nvSpPr>
        <p:spPr>
          <a:xfrm>
            <a:off x="876300" y="3380482"/>
            <a:ext cx="4870608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00B050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Logic &amp; Core</a:t>
            </a:r>
            <a:endParaRPr dirty="0">
              <a:solidFill>
                <a:srgbClr val="00B050"/>
              </a:solidFill>
            </a:endParaRPr>
          </a:p>
        </p:txBody>
      </p:sp>
      <p:sp>
        <p:nvSpPr>
          <p:cNvPr id="225" name="Google Shape;225;p20"/>
          <p:cNvSpPr txBox="1"/>
          <p:nvPr/>
        </p:nvSpPr>
        <p:spPr>
          <a:xfrm>
            <a:off x="6677025" y="3380482"/>
            <a:ext cx="4870608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00B050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UI &amp; Storage</a:t>
            </a:r>
            <a:endParaRPr dirty="0">
              <a:solidFill>
                <a:srgbClr val="00B050"/>
              </a:solidFill>
            </a:endParaRPr>
          </a:p>
        </p:txBody>
      </p:sp>
      <p:sp>
        <p:nvSpPr>
          <p:cNvPr id="226" name="Google Shape;226;p20"/>
          <p:cNvSpPr txBox="1"/>
          <p:nvPr/>
        </p:nvSpPr>
        <p:spPr>
          <a:xfrm>
            <a:off x="1219200" y="3856732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27" name="Google Shape;227;p20"/>
          <p:cNvSpPr txBox="1"/>
          <p:nvPr/>
        </p:nvSpPr>
        <p:spPr>
          <a:xfrm>
            <a:off x="1257300" y="3856732"/>
            <a:ext cx="425767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collector.py - Raw data gathering</a:t>
            </a:r>
            <a:endParaRPr/>
          </a:p>
        </p:txBody>
      </p:sp>
      <p:sp>
        <p:nvSpPr>
          <p:cNvPr id="228" name="Google Shape;228;p20"/>
          <p:cNvSpPr txBox="1"/>
          <p:nvPr/>
        </p:nvSpPr>
        <p:spPr>
          <a:xfrm>
            <a:off x="1219200" y="4247257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29" name="Google Shape;229;p20"/>
          <p:cNvSpPr txBox="1"/>
          <p:nvPr/>
        </p:nvSpPr>
        <p:spPr>
          <a:xfrm>
            <a:off x="1257300" y="4247257"/>
            <a:ext cx="425767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brain.py - Reinforcement Learning Engine</a:t>
            </a:r>
            <a:endParaRPr dirty="0"/>
          </a:p>
        </p:txBody>
      </p:sp>
      <p:sp>
        <p:nvSpPr>
          <p:cNvPr id="230" name="Google Shape;230;p20"/>
          <p:cNvSpPr txBox="1"/>
          <p:nvPr/>
        </p:nvSpPr>
        <p:spPr>
          <a:xfrm>
            <a:off x="1219200" y="4637782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31" name="Google Shape;231;p20"/>
          <p:cNvSpPr txBox="1"/>
          <p:nvPr/>
        </p:nvSpPr>
        <p:spPr>
          <a:xfrm>
            <a:off x="1257300" y="4637782"/>
            <a:ext cx="425767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environment.py - RL State definitions</a:t>
            </a:r>
            <a:endParaRPr/>
          </a:p>
        </p:txBody>
      </p:sp>
      <p:sp>
        <p:nvSpPr>
          <p:cNvPr id="232" name="Google Shape;232;p20"/>
          <p:cNvSpPr txBox="1"/>
          <p:nvPr/>
        </p:nvSpPr>
        <p:spPr>
          <a:xfrm>
            <a:off x="7019925" y="3856732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33" name="Google Shape;233;p20"/>
          <p:cNvSpPr txBox="1"/>
          <p:nvPr/>
        </p:nvSpPr>
        <p:spPr>
          <a:xfrm>
            <a:off x="7058025" y="3856732"/>
            <a:ext cx="425767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dashboard.py - Visual telemetry &amp; status</a:t>
            </a:r>
            <a:endParaRPr/>
          </a:p>
        </p:txBody>
      </p:sp>
      <p:sp>
        <p:nvSpPr>
          <p:cNvPr id="234" name="Google Shape;234;p20"/>
          <p:cNvSpPr txBox="1"/>
          <p:nvPr/>
        </p:nvSpPr>
        <p:spPr>
          <a:xfrm>
            <a:off x="7019925" y="4247257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35" name="Google Shape;235;p20"/>
          <p:cNvSpPr txBox="1"/>
          <p:nvPr/>
        </p:nvSpPr>
        <p:spPr>
          <a:xfrm>
            <a:off x="7058025" y="4247257"/>
            <a:ext cx="42576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wontx</a:t>
            </a: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ai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.db - User habit database</a:t>
            </a:r>
            <a:endParaRPr/>
          </a:p>
        </p:txBody>
      </p:sp>
      <p:sp>
        <p:nvSpPr>
          <p:cNvPr id="236" name="Google Shape;236;p20"/>
          <p:cNvSpPr txBox="1"/>
          <p:nvPr/>
        </p:nvSpPr>
        <p:spPr>
          <a:xfrm>
            <a:off x="7019925" y="4637782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37" name="Google Shape;237;p20"/>
          <p:cNvSpPr txBox="1"/>
          <p:nvPr/>
        </p:nvSpPr>
        <p:spPr>
          <a:xfrm>
            <a:off x="7058025" y="4637782"/>
            <a:ext cx="4257600" cy="2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config.yaml - Thresholds &amp; Parameters</a:t>
            </a:r>
            <a:endParaRPr/>
          </a:p>
        </p:txBody>
      </p:sp>
      <p:sp>
        <p:nvSpPr>
          <p:cNvPr id="238" name="Google Shape;238;p20"/>
          <p:cNvSpPr txBox="1"/>
          <p:nvPr/>
        </p:nvSpPr>
        <p:spPr>
          <a:xfrm>
            <a:off x="771525" y="960387"/>
            <a:ext cx="11381422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Project File Structure</a:t>
            </a:r>
            <a:endParaRPr/>
          </a:p>
        </p:txBody>
      </p:sp>
      <p:sp>
        <p:nvSpPr>
          <p:cNvPr id="239" name="Google Shape;239;p20"/>
          <p:cNvSpPr/>
          <p:nvPr/>
        </p:nvSpPr>
        <p:spPr>
          <a:xfrm>
            <a:off x="581025" y="960387"/>
            <a:ext cx="76200" cy="58102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46F1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1"/>
          <p:cNvSpPr txBox="1"/>
          <p:nvPr/>
        </p:nvSpPr>
        <p:spPr>
          <a:xfrm>
            <a:off x="923925" y="3480345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46" name="Google Shape;246;p21"/>
          <p:cNvSpPr txBox="1"/>
          <p:nvPr/>
        </p:nvSpPr>
        <p:spPr>
          <a:xfrm>
            <a:off x="923925" y="3861345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47" name="Google Shape;247;p21"/>
          <p:cNvSpPr txBox="1"/>
          <p:nvPr/>
        </p:nvSpPr>
        <p:spPr>
          <a:xfrm>
            <a:off x="923925" y="4242345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48" name="Google Shape;248;p21"/>
          <p:cNvSpPr txBox="1"/>
          <p:nvPr/>
        </p:nvSpPr>
        <p:spPr>
          <a:xfrm>
            <a:off x="923925" y="4623345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49" name="Google Shape;249;p21"/>
          <p:cNvSpPr txBox="1"/>
          <p:nvPr/>
        </p:nvSpPr>
        <p:spPr>
          <a:xfrm>
            <a:off x="581025" y="3004095"/>
            <a:ext cx="54906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00B050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Telemetry Metrics</a:t>
            </a:r>
            <a:endParaRPr dirty="0">
              <a:solidFill>
                <a:srgbClr val="00B050"/>
              </a:solidFill>
            </a:endParaRPr>
          </a:p>
        </p:txBody>
      </p:sp>
      <p:sp>
        <p:nvSpPr>
          <p:cNvPr id="250" name="Google Shape;250;p21"/>
          <p:cNvSpPr txBox="1"/>
          <p:nvPr/>
        </p:nvSpPr>
        <p:spPr>
          <a:xfrm>
            <a:off x="962025" y="3480345"/>
            <a:ext cx="48483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Mouse Velocity: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Vectors of move speed.</a:t>
            </a:r>
            <a:endParaRPr/>
          </a:p>
        </p:txBody>
      </p:sp>
      <p:sp>
        <p:nvSpPr>
          <p:cNvPr id="251" name="Google Shape;251;p21"/>
          <p:cNvSpPr txBox="1"/>
          <p:nvPr/>
        </p:nvSpPr>
        <p:spPr>
          <a:xfrm>
            <a:off x="962025" y="3861345"/>
            <a:ext cx="48483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Jitter: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Variance in movement micro-steps.</a:t>
            </a:r>
            <a:endParaRPr/>
          </a:p>
        </p:txBody>
      </p:sp>
      <p:sp>
        <p:nvSpPr>
          <p:cNvPr id="252" name="Google Shape;252;p21"/>
          <p:cNvSpPr txBox="1"/>
          <p:nvPr/>
        </p:nvSpPr>
        <p:spPr>
          <a:xfrm>
            <a:off x="962025" y="4242345"/>
            <a:ext cx="48483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Dwell Time: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Duration a key is held down.</a:t>
            </a:r>
            <a:endParaRPr dirty="0"/>
          </a:p>
        </p:txBody>
      </p:sp>
      <p:sp>
        <p:nvSpPr>
          <p:cNvPr id="253" name="Google Shape;253;p21"/>
          <p:cNvSpPr txBox="1"/>
          <p:nvPr/>
        </p:nvSpPr>
        <p:spPr>
          <a:xfrm>
            <a:off x="962025" y="4623345"/>
            <a:ext cx="48483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Flight Time: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Pause between two key presses.</a:t>
            </a:r>
            <a:endParaRPr/>
          </a:p>
        </p:txBody>
      </p:sp>
      <p:sp>
        <p:nvSpPr>
          <p:cNvPr id="254" name="Google Shape;254;p21"/>
          <p:cNvSpPr txBox="1"/>
          <p:nvPr/>
        </p:nvSpPr>
        <p:spPr>
          <a:xfrm>
            <a:off x="771525" y="960387"/>
            <a:ext cx="11381422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How Collector.py Works</a:t>
            </a:r>
            <a:endParaRPr/>
          </a:p>
        </p:txBody>
      </p:sp>
      <p:sp>
        <p:nvSpPr>
          <p:cNvPr id="255" name="Google Shape;255;p21"/>
          <p:cNvSpPr/>
          <p:nvPr/>
        </p:nvSpPr>
        <p:spPr>
          <a:xfrm>
            <a:off x="581025" y="960387"/>
            <a:ext cx="76200" cy="58102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46F1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Google Shape;260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2"/>
          <p:cNvPicPr preferRelativeResize="0"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588" y="607907"/>
            <a:ext cx="11624824" cy="56422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7" name="Google Shape;267;p23"/>
          <p:cNvGrpSpPr/>
          <p:nvPr/>
        </p:nvGrpSpPr>
        <p:grpSpPr>
          <a:xfrm>
            <a:off x="657225" y="2871769"/>
            <a:ext cx="5490600" cy="1853550"/>
            <a:chOff x="6381750" y="3261419"/>
            <a:chExt cx="5490600" cy="1853550"/>
          </a:xfrm>
        </p:grpSpPr>
        <p:sp>
          <p:nvSpPr>
            <p:cNvPr id="268" name="Google Shape;268;p23"/>
            <p:cNvSpPr txBox="1"/>
            <p:nvPr/>
          </p:nvSpPr>
          <p:spPr>
            <a:xfrm>
              <a:off x="6381750" y="3261419"/>
              <a:ext cx="54906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0" i="0" u="none" strike="noStrike" cap="none" dirty="0">
                  <a:solidFill>
                    <a:srgbClr val="00B050"/>
                  </a:solidFill>
                  <a:latin typeface="Urbanist Medium"/>
                  <a:ea typeface="Urbanist Medium"/>
                  <a:cs typeface="Urbanist Medium"/>
                  <a:sym typeface="Urbanist Medium"/>
                </a:rPr>
                <a:t>Decision Pipeline</a:t>
              </a:r>
              <a:endParaRPr dirty="0">
                <a:solidFill>
                  <a:srgbClr val="00B050"/>
                </a:solidFill>
              </a:endParaRPr>
            </a:p>
          </p:txBody>
        </p:sp>
        <p:sp>
          <p:nvSpPr>
            <p:cNvPr id="269" name="Google Shape;269;p23"/>
            <p:cNvSpPr txBox="1"/>
            <p:nvPr/>
          </p:nvSpPr>
          <p:spPr>
            <a:xfrm>
              <a:off x="6381750" y="3775769"/>
              <a:ext cx="5229300" cy="5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 i="0" u="none" strike="noStrike" cap="none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The agent receives </a:t>
              </a:r>
              <a:r>
                <a:rPr lang="en-US" sz="1500" b="1" i="0" u="none" strike="noStrike" cap="none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Behavioral Vectors</a:t>
              </a:r>
              <a:r>
                <a:rPr lang="en-US" sz="1500" b="0" i="0" u="none" strike="noStrike" cap="none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 as inputs. It chooses between </a:t>
              </a:r>
              <a:r>
                <a:rPr lang="en-US" sz="1500" b="0" i="1" u="none" strike="noStrike" cap="none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Trust</a:t>
              </a:r>
              <a:r>
                <a:rPr lang="en-US" sz="1500" b="0" i="0" u="none" strike="noStrike" cap="none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, </a:t>
              </a:r>
              <a:r>
                <a:rPr lang="en-US" sz="1500" b="0" i="1" u="none" strike="noStrike" cap="none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Monitor</a:t>
              </a:r>
              <a:r>
                <a:rPr lang="en-US" sz="1500" b="0" i="0" u="none" strike="noStrike" cap="none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, or </a:t>
              </a:r>
              <a:r>
                <a:rPr lang="en-US" sz="1500" b="0" i="1" u="none" strike="noStrike" cap="none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Lock</a:t>
              </a:r>
              <a:r>
                <a:rPr lang="en-US" sz="1500" b="0" i="0" u="none" strike="noStrike" cap="none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.</a:t>
              </a:r>
              <a:endParaRPr/>
            </a:p>
          </p:txBody>
        </p:sp>
        <p:sp>
          <p:nvSpPr>
            <p:cNvPr id="270" name="Google Shape;270;p23"/>
            <p:cNvSpPr txBox="1"/>
            <p:nvPr/>
          </p:nvSpPr>
          <p:spPr>
            <a:xfrm>
              <a:off x="6381750" y="4537769"/>
              <a:ext cx="5229300" cy="5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 i="0" u="none" strike="noStrike" cap="none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Through </a:t>
              </a:r>
              <a:r>
                <a:rPr lang="en-US" sz="1500" b="1" i="0" u="none" strike="noStrike" cap="none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Trial and Error</a:t>
              </a:r>
              <a:r>
                <a:rPr lang="en-US" sz="1500" b="0" i="0" u="none" strike="noStrike" cap="none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, it learns the subtle differences between the owner’s rhythm and a potential intruder’s noise.</a:t>
              </a:r>
              <a:endParaRPr/>
            </a:p>
          </p:txBody>
        </p:sp>
      </p:grpSp>
      <p:sp>
        <p:nvSpPr>
          <p:cNvPr id="271" name="Google Shape;271;p23"/>
          <p:cNvSpPr txBox="1"/>
          <p:nvPr/>
        </p:nvSpPr>
        <p:spPr>
          <a:xfrm>
            <a:off x="771525" y="960387"/>
            <a:ext cx="11381422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Reinforcement Learning Agent</a:t>
            </a:r>
            <a:endParaRPr/>
          </a:p>
        </p:txBody>
      </p:sp>
      <p:sp>
        <p:nvSpPr>
          <p:cNvPr id="272" name="Google Shape;272;p23"/>
          <p:cNvSpPr/>
          <p:nvPr/>
        </p:nvSpPr>
        <p:spPr>
          <a:xfrm>
            <a:off x="581025" y="960387"/>
            <a:ext cx="76200" cy="58102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" name="Google Shape;277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24"/>
          <p:cNvPicPr preferRelativeResize="0"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825" y="850605"/>
            <a:ext cx="11408350" cy="55371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766244"/>
            <a:ext cx="11029950" cy="135255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5"/>
          <p:cNvSpPr txBox="1"/>
          <p:nvPr/>
        </p:nvSpPr>
        <p:spPr>
          <a:xfrm>
            <a:off x="581025" y="2775644"/>
            <a:ext cx="1158144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00B050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Memory of Habits</a:t>
            </a:r>
            <a:endParaRPr dirty="0">
              <a:solidFill>
                <a:srgbClr val="00B050"/>
              </a:solidFill>
            </a:endParaRPr>
          </a:p>
        </p:txBody>
      </p:sp>
      <p:sp>
        <p:nvSpPr>
          <p:cNvPr id="286" name="Google Shape;286;p25"/>
          <p:cNvSpPr txBox="1"/>
          <p:nvPr/>
        </p:nvSpPr>
        <p:spPr>
          <a:xfrm>
            <a:off x="581025" y="3385244"/>
            <a:ext cx="110299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The Q-Table is a lookup table where rows represent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States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(behavioral clusters) and columns represent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Actions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287" name="Google Shape;287;p25"/>
          <p:cNvSpPr txBox="1"/>
          <p:nvPr/>
        </p:nvSpPr>
        <p:spPr>
          <a:xfrm>
            <a:off x="581025" y="5309294"/>
            <a:ext cx="110299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WONTX generates this table during the </a:t>
            </a:r>
            <a:r>
              <a:rPr lang="en-US" sz="1500" b="0" i="1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Enrollment Phase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, creating a unique mathematical model for the specific user.</a:t>
            </a:r>
            <a:endParaRPr/>
          </a:p>
        </p:txBody>
      </p:sp>
      <p:sp>
        <p:nvSpPr>
          <p:cNvPr id="288" name="Google Shape;288;p25"/>
          <p:cNvSpPr txBox="1"/>
          <p:nvPr/>
        </p:nvSpPr>
        <p:spPr>
          <a:xfrm>
            <a:off x="828675" y="4204394"/>
            <a:ext cx="105346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States: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Mean Jitter, Dwell Median, Click Frequency 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Values: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Cumulative Expected Reward for an action in that state.</a:t>
            </a:r>
            <a:endParaRPr/>
          </a:p>
        </p:txBody>
      </p:sp>
      <p:sp>
        <p:nvSpPr>
          <p:cNvPr id="289" name="Google Shape;289;p25"/>
          <p:cNvSpPr txBox="1"/>
          <p:nvPr/>
        </p:nvSpPr>
        <p:spPr>
          <a:xfrm>
            <a:off x="771525" y="960387"/>
            <a:ext cx="11381422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Understanding the Q-Table</a:t>
            </a:r>
            <a:endParaRPr/>
          </a:p>
        </p:txBody>
      </p:sp>
      <p:sp>
        <p:nvSpPr>
          <p:cNvPr id="290" name="Google Shape;290;p25"/>
          <p:cNvSpPr/>
          <p:nvPr/>
        </p:nvSpPr>
        <p:spPr>
          <a:xfrm>
            <a:off x="581025" y="960387"/>
            <a:ext cx="76200" cy="58102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" name="Google Shape;295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747069"/>
            <a:ext cx="5229225" cy="2038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747069"/>
            <a:ext cx="5229225" cy="203835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6"/>
          <p:cNvSpPr txBox="1"/>
          <p:nvPr/>
        </p:nvSpPr>
        <p:spPr>
          <a:xfrm>
            <a:off x="581025" y="5071169"/>
            <a:ext cx="110299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This "Extra" trust accumulation allows the system to remain stable during minor habit shifts (e.g., user is tired).</a:t>
            </a:r>
            <a:endParaRPr/>
          </a:p>
        </p:txBody>
      </p:sp>
      <p:sp>
        <p:nvSpPr>
          <p:cNvPr id="299" name="Google Shape;299;p26"/>
          <p:cNvSpPr txBox="1"/>
          <p:nvPr/>
        </p:nvSpPr>
        <p:spPr>
          <a:xfrm>
            <a:off x="876300" y="3309044"/>
            <a:ext cx="48705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00B050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+1</a:t>
            </a:r>
            <a:r>
              <a:rPr lang="en-US" sz="2100" dirty="0">
                <a:solidFill>
                  <a:srgbClr val="00B050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5</a:t>
            </a:r>
            <a:r>
              <a:rPr lang="en-US" sz="2100" b="0" i="0" u="none" strike="noStrike" cap="none" dirty="0">
                <a:solidFill>
                  <a:srgbClr val="00B050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(Positive Feedback)</a:t>
            </a:r>
            <a:endParaRPr dirty="0">
              <a:solidFill>
                <a:srgbClr val="00B050"/>
              </a:solidFill>
            </a:endParaRPr>
          </a:p>
        </p:txBody>
      </p:sp>
      <p:sp>
        <p:nvSpPr>
          <p:cNvPr id="300" name="Google Shape;300;p26"/>
          <p:cNvSpPr txBox="1"/>
          <p:nvPr/>
        </p:nvSpPr>
        <p:spPr>
          <a:xfrm>
            <a:off x="876300" y="3823394"/>
            <a:ext cx="46386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Awarded when behavior matches the owner’s profile within a 5% variance.</a:t>
            </a:r>
            <a:endParaRPr/>
          </a:p>
        </p:txBody>
      </p:sp>
      <p:sp>
        <p:nvSpPr>
          <p:cNvPr id="301" name="Google Shape;301;p26"/>
          <p:cNvSpPr txBox="1"/>
          <p:nvPr/>
        </p:nvSpPr>
        <p:spPr>
          <a:xfrm>
            <a:off x="6677025" y="3309044"/>
            <a:ext cx="48705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EF4444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-</a:t>
            </a:r>
            <a:r>
              <a:rPr lang="en-US" sz="2100" dirty="0">
                <a:solidFill>
                  <a:srgbClr val="EF4444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300</a:t>
            </a:r>
            <a:r>
              <a:rPr lang="en-US" sz="2100" b="0" i="0" u="none" strike="noStrike" cap="none" dirty="0">
                <a:solidFill>
                  <a:srgbClr val="EF4444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(Critical Penalty</a:t>
            </a:r>
            <a:r>
              <a:rPr lang="en-US" sz="2100" b="0" i="0" u="none" strike="noStrike" cap="none" dirty="0" smtClean="0">
                <a:solidFill>
                  <a:srgbClr val="EF4444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)</a:t>
            </a:r>
            <a:endParaRPr dirty="0"/>
          </a:p>
        </p:txBody>
      </p:sp>
      <p:sp>
        <p:nvSpPr>
          <p:cNvPr id="302" name="Google Shape;302;p26"/>
          <p:cNvSpPr txBox="1"/>
          <p:nvPr/>
        </p:nvSpPr>
        <p:spPr>
          <a:xfrm>
            <a:off x="6677025" y="3823394"/>
            <a:ext cx="46386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Deducted when a high</a:t>
            </a: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risk anomaly is detected, triggering a trust decay.</a:t>
            </a:r>
            <a:endParaRPr/>
          </a:p>
        </p:txBody>
      </p:sp>
      <p:sp>
        <p:nvSpPr>
          <p:cNvPr id="303" name="Google Shape;303;p26"/>
          <p:cNvSpPr txBox="1"/>
          <p:nvPr/>
        </p:nvSpPr>
        <p:spPr>
          <a:xfrm>
            <a:off x="771525" y="960387"/>
            <a:ext cx="11381422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Reward &amp; Penalty System</a:t>
            </a:r>
            <a:endParaRPr/>
          </a:p>
        </p:txBody>
      </p:sp>
      <p:sp>
        <p:nvSpPr>
          <p:cNvPr id="304" name="Google Shape;304;p26"/>
          <p:cNvSpPr/>
          <p:nvPr/>
        </p:nvSpPr>
        <p:spPr>
          <a:xfrm>
            <a:off x="581025" y="960387"/>
            <a:ext cx="76200" cy="58102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937569"/>
            <a:ext cx="348615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2937569"/>
            <a:ext cx="348615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4825" y="2937569"/>
            <a:ext cx="3486150" cy="2324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27"/>
          <p:cNvSpPr txBox="1"/>
          <p:nvPr/>
        </p:nvSpPr>
        <p:spPr>
          <a:xfrm>
            <a:off x="876300" y="3499544"/>
            <a:ext cx="304038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00B050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States</a:t>
            </a:r>
            <a:endParaRPr dirty="0">
              <a:solidFill>
                <a:srgbClr val="00B050"/>
              </a:solidFill>
            </a:endParaRPr>
          </a:p>
        </p:txBody>
      </p:sp>
      <p:sp>
        <p:nvSpPr>
          <p:cNvPr id="314" name="Google Shape;314;p27"/>
          <p:cNvSpPr txBox="1"/>
          <p:nvPr/>
        </p:nvSpPr>
        <p:spPr>
          <a:xfrm>
            <a:off x="876300" y="4013894"/>
            <a:ext cx="2895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Calculated from normalized telemetry windows (e.g., last 30 seconds of activity).</a:t>
            </a:r>
            <a:endParaRPr/>
          </a:p>
        </p:txBody>
      </p:sp>
      <p:sp>
        <p:nvSpPr>
          <p:cNvPr id="315" name="Google Shape;315;p27"/>
          <p:cNvSpPr txBox="1"/>
          <p:nvPr/>
        </p:nvSpPr>
        <p:spPr>
          <a:xfrm>
            <a:off x="4648200" y="3499544"/>
            <a:ext cx="304038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00B050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Actions</a:t>
            </a:r>
            <a:endParaRPr dirty="0">
              <a:solidFill>
                <a:srgbClr val="00B050"/>
              </a:solidFill>
            </a:endParaRPr>
          </a:p>
        </p:txBody>
      </p:sp>
      <p:sp>
        <p:nvSpPr>
          <p:cNvPr id="316" name="Google Shape;316;p27"/>
          <p:cNvSpPr txBox="1"/>
          <p:nvPr/>
        </p:nvSpPr>
        <p:spPr>
          <a:xfrm>
            <a:off x="4648200" y="4013894"/>
            <a:ext cx="2895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smtClean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1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 Pass (Trust)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2. Verification Request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3. Session Lockdown</a:t>
            </a:r>
            <a:endParaRPr dirty="0"/>
          </a:p>
        </p:txBody>
      </p:sp>
      <p:sp>
        <p:nvSpPr>
          <p:cNvPr id="317" name="Google Shape;317;p27"/>
          <p:cNvSpPr txBox="1"/>
          <p:nvPr/>
        </p:nvSpPr>
        <p:spPr>
          <a:xfrm>
            <a:off x="8420100" y="3499544"/>
            <a:ext cx="304038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00B050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Observation</a:t>
            </a:r>
            <a:endParaRPr dirty="0">
              <a:solidFill>
                <a:srgbClr val="00B050"/>
              </a:solidFill>
            </a:endParaRPr>
          </a:p>
        </p:txBody>
      </p:sp>
      <p:sp>
        <p:nvSpPr>
          <p:cNvPr id="318" name="Google Shape;318;p27"/>
          <p:cNvSpPr txBox="1"/>
          <p:nvPr/>
        </p:nvSpPr>
        <p:spPr>
          <a:xfrm>
            <a:off x="8420100" y="4013894"/>
            <a:ext cx="2895600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smtClean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Real time 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vector of [Velocity, Frequency, Dwell,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ErrorRate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].</a:t>
            </a:r>
            <a:endParaRPr dirty="0"/>
          </a:p>
        </p:txBody>
      </p:sp>
      <p:sp>
        <p:nvSpPr>
          <p:cNvPr id="319" name="Google Shape;319;p27"/>
          <p:cNvSpPr txBox="1"/>
          <p:nvPr/>
        </p:nvSpPr>
        <p:spPr>
          <a:xfrm>
            <a:off x="771525" y="960387"/>
            <a:ext cx="11381422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Environment Space</a:t>
            </a:r>
            <a:endParaRPr/>
          </a:p>
        </p:txBody>
      </p:sp>
      <p:sp>
        <p:nvSpPr>
          <p:cNvPr id="320" name="Google Shape;320;p27"/>
          <p:cNvSpPr/>
          <p:nvPr/>
        </p:nvSpPr>
        <p:spPr>
          <a:xfrm>
            <a:off x="581025" y="960387"/>
            <a:ext cx="76200" cy="58102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" name="Google Shape;325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28"/>
          <p:cNvSpPr txBox="1"/>
          <p:nvPr/>
        </p:nvSpPr>
        <p:spPr>
          <a:xfrm>
            <a:off x="1271464" y="3429000"/>
            <a:ext cx="4316363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 b="1" dirty="0" smtClean="0">
                <a:solidFill>
                  <a:srgbClr val="B4975A"/>
                </a:solidFill>
                <a:latin typeface="Space Grotesk"/>
                <a:ea typeface="Space Grotesk"/>
                <a:cs typeface="Space Grotesk"/>
                <a:sym typeface="Space Grotesk"/>
              </a:rPr>
              <a:t>76.26</a:t>
            </a:r>
            <a:r>
              <a:rPr lang="en-US" sz="9600" b="1" i="0" u="none" strike="noStrike" cap="none" dirty="0" smtClean="0">
                <a:solidFill>
                  <a:srgbClr val="B4975A"/>
                </a:solidFill>
                <a:latin typeface="Space Grotesk"/>
                <a:ea typeface="Space Grotesk"/>
                <a:cs typeface="Space Grotesk"/>
                <a:sym typeface="Space Grotesk"/>
              </a:rPr>
              <a:t>%</a:t>
            </a:r>
            <a:endParaRPr sz="1200" dirty="0"/>
          </a:p>
        </p:txBody>
      </p:sp>
      <p:sp>
        <p:nvSpPr>
          <p:cNvPr id="327" name="Google Shape;327;p28"/>
          <p:cNvSpPr txBox="1"/>
          <p:nvPr/>
        </p:nvSpPr>
        <p:spPr>
          <a:xfrm>
            <a:off x="6381750" y="3261419"/>
            <a:ext cx="549068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00B050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Current Benchmark</a:t>
            </a:r>
            <a:endParaRPr dirty="0">
              <a:solidFill>
                <a:srgbClr val="00B050"/>
              </a:solidFill>
            </a:endParaRPr>
          </a:p>
        </p:txBody>
      </p:sp>
      <p:sp>
        <p:nvSpPr>
          <p:cNvPr id="328" name="Google Shape;328;p28"/>
          <p:cNvSpPr txBox="1"/>
          <p:nvPr/>
        </p:nvSpPr>
        <p:spPr>
          <a:xfrm>
            <a:off x="6381750" y="3775769"/>
            <a:ext cx="5229225" cy="1038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WONTX AI successfully identifies intruders in </a:t>
            </a:r>
            <a:r>
              <a:rPr lang="en-US" sz="1500" dirty="0" smtClean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76.26</a:t>
            </a:r>
            <a:r>
              <a:rPr lang="en-US" sz="1500" b="0" i="0" u="none" strike="noStrike" cap="none" dirty="0" smtClean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% 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of test scenarios within the first 15 </a:t>
            </a:r>
            <a:r>
              <a:rPr lang="en-US" sz="1500" b="0" i="0" u="none" strike="noStrike" cap="none" dirty="0" smtClean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-20 seconds 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of unauthorized access.</a:t>
            </a:r>
            <a:endParaRPr dirty="0"/>
          </a:p>
        </p:txBody>
      </p:sp>
      <p:sp>
        <p:nvSpPr>
          <p:cNvPr id="329" name="Google Shape;329;p28"/>
          <p:cNvSpPr txBox="1"/>
          <p:nvPr/>
        </p:nvSpPr>
        <p:spPr>
          <a:xfrm>
            <a:off x="6381750" y="4792810"/>
            <a:ext cx="5229225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The remaining </a:t>
            </a:r>
            <a:r>
              <a:rPr lang="en-US" sz="1500" dirty="0" smtClean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23..74</a:t>
            </a:r>
            <a:r>
              <a:rPr lang="en-US" sz="1500" b="0" i="0" u="none" strike="noStrike" cap="none" dirty="0" smtClean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% 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is attributed to </a:t>
            </a:r>
            <a:r>
              <a:rPr lang="en-US" sz="1500" b="0" i="1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Adaptive Overlap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, where intruder noise mimics owner habits temporarily.</a:t>
            </a:r>
            <a:endParaRPr dirty="0"/>
          </a:p>
        </p:txBody>
      </p:sp>
      <p:sp>
        <p:nvSpPr>
          <p:cNvPr id="330" name="Google Shape;330;p28"/>
          <p:cNvSpPr txBox="1"/>
          <p:nvPr/>
        </p:nvSpPr>
        <p:spPr>
          <a:xfrm>
            <a:off x="771525" y="960387"/>
            <a:ext cx="11381422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Performance: 84% Accuracy</a:t>
            </a:r>
            <a:endParaRPr/>
          </a:p>
        </p:txBody>
      </p:sp>
      <p:sp>
        <p:nvSpPr>
          <p:cNvPr id="331" name="Google Shape;331;p28"/>
          <p:cNvSpPr/>
          <p:nvPr/>
        </p:nvSpPr>
        <p:spPr>
          <a:xfrm>
            <a:off x="581025" y="960387"/>
            <a:ext cx="76200" cy="58102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037879"/>
            <a:ext cx="11029950" cy="1170979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29"/>
          <p:cNvSpPr txBox="1"/>
          <p:nvPr/>
        </p:nvSpPr>
        <p:spPr>
          <a:xfrm>
            <a:off x="581025" y="4494609"/>
            <a:ext cx="110299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TP: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Correct Intrusions Detected |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TN: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Correct Owner Verification 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Tested over 500+ distinct behavioral sessions.</a:t>
            </a:r>
            <a:endParaRPr/>
          </a:p>
        </p:txBody>
      </p:sp>
      <p:pic>
        <p:nvPicPr>
          <p:cNvPr id="339" name="Google Shape;339;p29" descr="image.png"/>
          <p:cNvPicPr preferRelativeResize="0"/>
          <p:nvPr/>
        </p:nvPicPr>
        <p:blipFill rotWithShape="1">
          <a:blip r:embed="rId5">
            <a:alphaModFix/>
            <a:duotone>
              <a:prstClr val="black"/>
              <a:srgbClr val="52D723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828675" y="3285529"/>
            <a:ext cx="10534650" cy="675679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29"/>
          <p:cNvSpPr txBox="1"/>
          <p:nvPr/>
        </p:nvSpPr>
        <p:spPr>
          <a:xfrm>
            <a:off x="771525" y="960387"/>
            <a:ext cx="11381422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How Accuracy is Calculated</a:t>
            </a:r>
            <a:endParaRPr/>
          </a:p>
        </p:txBody>
      </p:sp>
      <p:sp>
        <p:nvSpPr>
          <p:cNvPr id="341" name="Google Shape;341;p29"/>
          <p:cNvSpPr/>
          <p:nvPr/>
        </p:nvSpPr>
        <p:spPr>
          <a:xfrm>
            <a:off x="581025" y="960387"/>
            <a:ext cx="76200" cy="58102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6" name="Google Shape;346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30"/>
          <p:cNvSpPr txBox="1"/>
          <p:nvPr/>
        </p:nvSpPr>
        <p:spPr>
          <a:xfrm>
            <a:off x="581025" y="3165574"/>
            <a:ext cx="549068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00B050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OS Hooks</a:t>
            </a:r>
            <a:endParaRPr dirty="0">
              <a:solidFill>
                <a:srgbClr val="00B050"/>
              </a:solidFill>
            </a:endParaRPr>
          </a:p>
        </p:txBody>
      </p:sp>
      <p:sp>
        <p:nvSpPr>
          <p:cNvPr id="348" name="Google Shape;348;p30"/>
          <p:cNvSpPr txBox="1"/>
          <p:nvPr/>
        </p:nvSpPr>
        <p:spPr>
          <a:xfrm>
            <a:off x="581025" y="3679924"/>
            <a:ext cx="5229225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WONTX operates in the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User Space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but interfaces with OS commands via subprocess or ctypes to execute:</a:t>
            </a:r>
            <a:endParaRPr/>
          </a:p>
        </p:txBody>
      </p:sp>
      <p:sp>
        <p:nvSpPr>
          <p:cNvPr id="349" name="Google Shape;349;p30"/>
          <p:cNvSpPr txBox="1"/>
          <p:nvPr/>
        </p:nvSpPr>
        <p:spPr>
          <a:xfrm>
            <a:off x="581025" y="4451449"/>
            <a:ext cx="5229225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FFC000"/>
                </a:solidFill>
                <a:latin typeface="Urbanist"/>
                <a:ea typeface="Urbanist"/>
                <a:cs typeface="Urbanist"/>
                <a:sym typeface="Urbanist"/>
              </a:rPr>
              <a:t>rundll32.exe user32.dll,LockWorkStation</a:t>
            </a:r>
            <a:endParaRPr dirty="0">
              <a:solidFill>
                <a:srgbClr val="FFC000"/>
              </a:solidFill>
            </a:endParaRPr>
          </a:p>
        </p:txBody>
      </p:sp>
      <p:pic>
        <p:nvPicPr>
          <p:cNvPr id="350" name="Google Shape;350;p30" descr="image.png"/>
          <p:cNvPicPr preferRelativeResize="0"/>
          <p:nvPr/>
        </p:nvPicPr>
        <p:blipFill rotWithShape="1">
          <a:blip r:embed="rId4">
            <a:alphaModFix/>
          </a:blip>
          <a:srcRect l="42306" r="2265"/>
          <a:stretch/>
        </p:blipFill>
        <p:spPr>
          <a:xfrm>
            <a:off x="6939419" y="2438200"/>
            <a:ext cx="3494762" cy="2883250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30"/>
          <p:cNvSpPr txBox="1"/>
          <p:nvPr/>
        </p:nvSpPr>
        <p:spPr>
          <a:xfrm>
            <a:off x="771525" y="960387"/>
            <a:ext cx="11381422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System Implementation</a:t>
            </a:r>
            <a:endParaRPr/>
          </a:p>
        </p:txBody>
      </p:sp>
      <p:sp>
        <p:nvSpPr>
          <p:cNvPr id="352" name="Google Shape;352;p30"/>
          <p:cNvSpPr/>
          <p:nvPr/>
        </p:nvSpPr>
        <p:spPr>
          <a:xfrm>
            <a:off x="581025" y="960387"/>
            <a:ext cx="76200" cy="58102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7" name="Google Shape;357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747069"/>
            <a:ext cx="3486150" cy="270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3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2747069"/>
            <a:ext cx="3486150" cy="270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4825" y="2747069"/>
            <a:ext cx="3486150" cy="270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31" descr="image.png"/>
          <p:cNvPicPr preferRelativeResize="0"/>
          <p:nvPr/>
        </p:nvPicPr>
        <p:blipFill rotWithShape="1">
          <a:blip r:embed="rId6">
            <a:alphaModFix/>
            <a:duotone>
              <a:prstClr val="black"/>
              <a:srgbClr val="52D723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876300" y="3042344"/>
            <a:ext cx="28956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1"/>
          <p:cNvSpPr txBox="1"/>
          <p:nvPr/>
        </p:nvSpPr>
        <p:spPr>
          <a:xfrm>
            <a:off x="876300" y="3583988"/>
            <a:ext cx="304038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 smtClean="0">
                <a:solidFill>
                  <a:srgbClr val="00B050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Application &amp; Software Level</a:t>
            </a:r>
            <a:endParaRPr sz="1100" dirty="0">
              <a:solidFill>
                <a:srgbClr val="00B050"/>
              </a:solidFill>
            </a:endParaRPr>
          </a:p>
        </p:txBody>
      </p:sp>
      <p:sp>
        <p:nvSpPr>
          <p:cNvPr id="363" name="Google Shape;363;p31"/>
          <p:cNvSpPr txBox="1"/>
          <p:nvPr/>
        </p:nvSpPr>
        <p:spPr>
          <a:xfrm>
            <a:off x="853480" y="3940521"/>
            <a:ext cx="2895600" cy="1038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GB" sz="1500" dirty="0" smtClean="0">
                <a:solidFill>
                  <a:schemeClr val="bg1">
                    <a:lumMod val="75000"/>
                  </a:schemeClr>
                </a:solidFill>
                <a:latin typeface="Urbanist" charset="0"/>
                <a:ea typeface="Urbanist" charset="0"/>
                <a:cs typeface="Urbanist" charset="0"/>
              </a:rPr>
              <a:t>Ensures invisible </a:t>
            </a:r>
            <a:r>
              <a:rPr lang="en-GB" sz="1500" dirty="0">
                <a:solidFill>
                  <a:schemeClr val="bg1">
                    <a:lumMod val="75000"/>
                  </a:schemeClr>
                </a:solidFill>
                <a:latin typeface="Urbanist" charset="0"/>
                <a:ea typeface="Urbanist" charset="0"/>
                <a:cs typeface="Urbanist" charset="0"/>
              </a:rPr>
              <a:t>identity verification </a:t>
            </a:r>
            <a:r>
              <a:rPr lang="en-GB" sz="1500" dirty="0" smtClean="0">
                <a:solidFill>
                  <a:schemeClr val="bg1">
                    <a:lumMod val="75000"/>
                  </a:schemeClr>
                </a:solidFill>
                <a:latin typeface="Urbanist" charset="0"/>
                <a:ea typeface="Urbanist" charset="0"/>
                <a:cs typeface="Urbanist" charset="0"/>
              </a:rPr>
              <a:t>within platforms e.g. </a:t>
            </a:r>
            <a:r>
              <a:rPr lang="en-GB" sz="1500" b="1" dirty="0" smtClean="0">
                <a:solidFill>
                  <a:schemeClr val="bg1">
                    <a:lumMod val="75000"/>
                  </a:schemeClr>
                </a:solidFill>
                <a:latin typeface="Urbanist" charset="0"/>
                <a:ea typeface="Urbanist" charset="0"/>
                <a:cs typeface="Urbanist" charset="0"/>
              </a:rPr>
              <a:t>CRM</a:t>
            </a:r>
            <a:r>
              <a:rPr lang="en-GB" sz="1500" dirty="0" smtClean="0">
                <a:solidFill>
                  <a:schemeClr val="bg1">
                    <a:lumMod val="75000"/>
                  </a:schemeClr>
                </a:solidFill>
                <a:latin typeface="Urbanist" charset="0"/>
                <a:ea typeface="Urbanist" charset="0"/>
                <a:cs typeface="Urbanist" charset="0"/>
              </a:rPr>
              <a:t> </a:t>
            </a:r>
            <a:r>
              <a:rPr lang="en-GB" sz="1500" dirty="0">
                <a:solidFill>
                  <a:schemeClr val="bg1">
                    <a:lumMod val="75000"/>
                  </a:schemeClr>
                </a:solidFill>
                <a:latin typeface="Urbanist" charset="0"/>
                <a:ea typeface="Urbanist" charset="0"/>
                <a:cs typeface="Urbanist" charset="0"/>
              </a:rPr>
              <a:t>or web browsers.</a:t>
            </a:r>
            <a:endParaRPr sz="1500" dirty="0">
              <a:solidFill>
                <a:schemeClr val="bg1">
                  <a:lumMod val="75000"/>
                </a:schemeClr>
              </a:solidFill>
              <a:latin typeface="Urbanist" charset="0"/>
              <a:ea typeface="Urbanist" charset="0"/>
              <a:cs typeface="Urbanist" charset="0"/>
            </a:endParaRPr>
          </a:p>
        </p:txBody>
      </p:sp>
      <p:pic>
        <p:nvPicPr>
          <p:cNvPr id="364" name="Google Shape;364;p31" descr="image.png"/>
          <p:cNvPicPr preferRelativeResize="0"/>
          <p:nvPr/>
        </p:nvPicPr>
        <p:blipFill rotWithShape="1">
          <a:blip r:embed="rId7">
            <a:alphaModFix/>
            <a:duotone>
              <a:prstClr val="black"/>
              <a:srgbClr val="52D723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4648200" y="3042344"/>
            <a:ext cx="28956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31"/>
          <p:cNvSpPr txBox="1"/>
          <p:nvPr/>
        </p:nvSpPr>
        <p:spPr>
          <a:xfrm>
            <a:off x="4648200" y="3583988"/>
            <a:ext cx="304038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 smtClean="0">
                <a:solidFill>
                  <a:srgbClr val="00B050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System Security (</a:t>
            </a:r>
            <a:r>
              <a:rPr lang="en-GB" sz="1800" dirty="0" smtClean="0">
                <a:solidFill>
                  <a:srgbClr val="00B050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Laptop/PC)</a:t>
            </a:r>
            <a:endParaRPr sz="1100" dirty="0">
              <a:solidFill>
                <a:srgbClr val="00B050"/>
              </a:solidFill>
            </a:endParaRPr>
          </a:p>
        </p:txBody>
      </p:sp>
      <p:sp>
        <p:nvSpPr>
          <p:cNvPr id="366" name="Google Shape;366;p31"/>
          <p:cNvSpPr txBox="1"/>
          <p:nvPr/>
        </p:nvSpPr>
        <p:spPr>
          <a:xfrm>
            <a:off x="4648200" y="3940520"/>
            <a:ext cx="2895600" cy="1038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GB" sz="1500" dirty="0">
                <a:solidFill>
                  <a:schemeClr val="bg1">
                    <a:lumMod val="75000"/>
                  </a:schemeClr>
                </a:solidFill>
                <a:latin typeface="Urbanist" charset="0"/>
                <a:ea typeface="Urbanist" charset="0"/>
                <a:cs typeface="Urbanist" charset="0"/>
              </a:rPr>
              <a:t>Secures PCs and laptops by </a:t>
            </a:r>
            <a:r>
              <a:rPr lang="en-GB" sz="1500" dirty="0" smtClean="0">
                <a:solidFill>
                  <a:schemeClr val="bg1">
                    <a:lumMod val="75000"/>
                  </a:schemeClr>
                </a:solidFill>
                <a:latin typeface="Urbanist" charset="0"/>
                <a:ea typeface="Urbanist" charset="0"/>
                <a:cs typeface="Urbanist" charset="0"/>
              </a:rPr>
              <a:t> </a:t>
            </a:r>
            <a:r>
              <a:rPr lang="en-GB" sz="1500" dirty="0">
                <a:solidFill>
                  <a:schemeClr val="bg1">
                    <a:lumMod val="75000"/>
                  </a:schemeClr>
                </a:solidFill>
                <a:latin typeface="Urbanist" charset="0"/>
                <a:ea typeface="Urbanist" charset="0"/>
                <a:cs typeface="Urbanist" charset="0"/>
              </a:rPr>
              <a:t>locking the device if an </a:t>
            </a:r>
            <a:r>
              <a:rPr lang="en-GB" sz="1500" dirty="0" smtClean="0">
                <a:solidFill>
                  <a:schemeClr val="bg1">
                    <a:lumMod val="75000"/>
                  </a:schemeClr>
                </a:solidFill>
                <a:latin typeface="Urbanist" charset="0"/>
                <a:ea typeface="Urbanist" charset="0"/>
                <a:cs typeface="Urbanist" charset="0"/>
              </a:rPr>
              <a:t>unauthorized </a:t>
            </a:r>
            <a:r>
              <a:rPr lang="en-GB" sz="1500" dirty="0">
                <a:solidFill>
                  <a:schemeClr val="bg1">
                    <a:lumMod val="75000"/>
                  </a:schemeClr>
                </a:solidFill>
                <a:latin typeface="Urbanist" charset="0"/>
                <a:ea typeface="Urbanist" charset="0"/>
                <a:cs typeface="Urbanist" charset="0"/>
              </a:rPr>
              <a:t>attempts to engage.</a:t>
            </a:r>
            <a:endParaRPr sz="1500" dirty="0">
              <a:solidFill>
                <a:schemeClr val="bg1">
                  <a:lumMod val="75000"/>
                </a:schemeClr>
              </a:solidFill>
              <a:latin typeface="Urbanist" charset="0"/>
              <a:ea typeface="Urbanist" charset="0"/>
              <a:cs typeface="Urbanist" charset="0"/>
            </a:endParaRPr>
          </a:p>
        </p:txBody>
      </p:sp>
      <p:pic>
        <p:nvPicPr>
          <p:cNvPr id="367" name="Google Shape;367;p31" descr="image.png"/>
          <p:cNvPicPr preferRelativeResize="0"/>
          <p:nvPr/>
        </p:nvPicPr>
        <p:blipFill rotWithShape="1">
          <a:blip r:embed="rId8">
            <a:alphaModFix/>
            <a:duotone>
              <a:prstClr val="black"/>
              <a:srgbClr val="52D723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8420100" y="3042344"/>
            <a:ext cx="28956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31"/>
          <p:cNvSpPr txBox="1"/>
          <p:nvPr/>
        </p:nvSpPr>
        <p:spPr>
          <a:xfrm>
            <a:off x="8420100" y="3583987"/>
            <a:ext cx="304038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 smtClean="0">
                <a:solidFill>
                  <a:srgbClr val="00B050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Infrastructure &amp; Root Access</a:t>
            </a:r>
            <a:endParaRPr sz="1100" dirty="0">
              <a:solidFill>
                <a:srgbClr val="00B050"/>
              </a:solidFill>
            </a:endParaRPr>
          </a:p>
        </p:txBody>
      </p:sp>
      <p:sp>
        <p:nvSpPr>
          <p:cNvPr id="369" name="Google Shape;369;p31"/>
          <p:cNvSpPr txBox="1"/>
          <p:nvPr/>
        </p:nvSpPr>
        <p:spPr>
          <a:xfrm>
            <a:off x="8420100" y="3976139"/>
            <a:ext cx="2895600" cy="1038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GB" sz="1500" dirty="0">
                <a:solidFill>
                  <a:schemeClr val="bg1">
                    <a:lumMod val="75000"/>
                  </a:schemeClr>
                </a:solidFill>
                <a:latin typeface="Urbanist" charset="0"/>
                <a:ea typeface="Urbanist" charset="0"/>
                <a:cs typeface="Urbanist" charset="0"/>
              </a:rPr>
              <a:t>Adds an immutable behavioral security layer to </a:t>
            </a:r>
            <a:r>
              <a:rPr lang="en-GB" sz="1500" b="1" dirty="0">
                <a:solidFill>
                  <a:schemeClr val="bg1">
                    <a:lumMod val="75000"/>
                  </a:schemeClr>
                </a:solidFill>
                <a:latin typeface="Urbanist" charset="0"/>
                <a:ea typeface="Urbanist" charset="0"/>
                <a:cs typeface="Urbanist" charset="0"/>
              </a:rPr>
              <a:t>Data Center</a:t>
            </a:r>
            <a:r>
              <a:rPr lang="en-GB" sz="1500" dirty="0">
                <a:solidFill>
                  <a:schemeClr val="bg1">
                    <a:lumMod val="75000"/>
                  </a:schemeClr>
                </a:solidFill>
                <a:latin typeface="Urbanist" charset="0"/>
                <a:ea typeface="Urbanist" charset="0"/>
                <a:cs typeface="Urbanist" charset="0"/>
              </a:rPr>
              <a:t> consoles and hardware interfaces.</a:t>
            </a:r>
            <a:endParaRPr sz="1500" dirty="0">
              <a:solidFill>
                <a:schemeClr val="bg1">
                  <a:lumMod val="75000"/>
                </a:schemeClr>
              </a:solidFill>
              <a:latin typeface="Urbanist" charset="0"/>
              <a:ea typeface="Urbanist" charset="0"/>
              <a:cs typeface="Urbanist" charset="0"/>
            </a:endParaRPr>
          </a:p>
        </p:txBody>
      </p:sp>
      <p:sp>
        <p:nvSpPr>
          <p:cNvPr id="370" name="Google Shape;370;p31"/>
          <p:cNvSpPr txBox="1"/>
          <p:nvPr/>
        </p:nvSpPr>
        <p:spPr>
          <a:xfrm>
            <a:off x="771525" y="960387"/>
            <a:ext cx="11381422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Practical Use Cases</a:t>
            </a:r>
            <a:endParaRPr/>
          </a:p>
        </p:txBody>
      </p:sp>
      <p:sp>
        <p:nvSpPr>
          <p:cNvPr id="371" name="Google Shape;371;p31"/>
          <p:cNvSpPr/>
          <p:nvPr/>
        </p:nvSpPr>
        <p:spPr>
          <a:xfrm>
            <a:off x="581025" y="960387"/>
            <a:ext cx="76200" cy="58102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Google Shape;376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32"/>
          <p:cNvSpPr txBox="1"/>
          <p:nvPr/>
        </p:nvSpPr>
        <p:spPr>
          <a:xfrm>
            <a:off x="923925" y="3337619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378" name="Google Shape;378;p32"/>
          <p:cNvSpPr txBox="1"/>
          <p:nvPr/>
        </p:nvSpPr>
        <p:spPr>
          <a:xfrm>
            <a:off x="962025" y="3337619"/>
            <a:ext cx="1064895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00B050"/>
                </a:solidFill>
                <a:latin typeface="Urbanist"/>
                <a:ea typeface="Urbanist"/>
                <a:cs typeface="Urbanist"/>
                <a:sym typeface="Urbanist"/>
              </a:rPr>
              <a:t>Hardware Variability:</a:t>
            </a:r>
            <a:r>
              <a:rPr lang="en-US" sz="1500" b="0" i="0" u="none" strike="noStrike" cap="none" dirty="0">
                <a:solidFill>
                  <a:srgbClr val="00B050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Changing from a mechanical to a membrane keyboard can drop accuracy temporarily.</a:t>
            </a:r>
            <a:endParaRPr dirty="0"/>
          </a:p>
        </p:txBody>
      </p:sp>
      <p:sp>
        <p:nvSpPr>
          <p:cNvPr id="379" name="Google Shape;379;p32"/>
          <p:cNvSpPr txBox="1"/>
          <p:nvPr/>
        </p:nvSpPr>
        <p:spPr>
          <a:xfrm>
            <a:off x="923925" y="3718619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380" name="Google Shape;380;p32"/>
          <p:cNvSpPr txBox="1"/>
          <p:nvPr/>
        </p:nvSpPr>
        <p:spPr>
          <a:xfrm>
            <a:off x="962025" y="3718619"/>
            <a:ext cx="1064895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00B050"/>
                </a:solidFill>
                <a:latin typeface="Urbanist"/>
                <a:ea typeface="Urbanist"/>
                <a:cs typeface="Urbanist"/>
                <a:sym typeface="Urbanist"/>
              </a:rPr>
              <a:t>Physical Impairment:</a:t>
            </a:r>
            <a:r>
              <a:rPr lang="en-US" sz="1500" b="0" i="0" u="none" strike="noStrike" cap="none" dirty="0">
                <a:solidFill>
                  <a:srgbClr val="00B050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Injuries or extreme fatigue can alter habit vectors.</a:t>
            </a:r>
            <a:endParaRPr dirty="0"/>
          </a:p>
        </p:txBody>
      </p:sp>
      <p:sp>
        <p:nvSpPr>
          <p:cNvPr id="381" name="Google Shape;381;p32"/>
          <p:cNvSpPr txBox="1"/>
          <p:nvPr/>
        </p:nvSpPr>
        <p:spPr>
          <a:xfrm>
            <a:off x="923925" y="4099619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382" name="Google Shape;382;p32"/>
          <p:cNvSpPr txBox="1"/>
          <p:nvPr/>
        </p:nvSpPr>
        <p:spPr>
          <a:xfrm>
            <a:off x="962025" y="4099619"/>
            <a:ext cx="1064895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00B050"/>
                </a:solidFill>
                <a:latin typeface="Urbanist"/>
                <a:ea typeface="Urbanist"/>
                <a:cs typeface="Urbanist"/>
                <a:sym typeface="Urbanist"/>
              </a:rPr>
              <a:t>Enrollment Period:</a:t>
            </a:r>
            <a:r>
              <a:rPr lang="en-US" sz="1500" b="0" i="0" u="none" strike="noStrike" cap="none" dirty="0">
                <a:solidFill>
                  <a:srgbClr val="00B050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Requires at least 30 minutes of clean data to build a reliable Q-Table.</a:t>
            </a:r>
            <a:endParaRPr dirty="0"/>
          </a:p>
        </p:txBody>
      </p:sp>
      <p:sp>
        <p:nvSpPr>
          <p:cNvPr id="383" name="Google Shape;383;p32"/>
          <p:cNvSpPr txBox="1"/>
          <p:nvPr/>
        </p:nvSpPr>
        <p:spPr>
          <a:xfrm>
            <a:off x="923925" y="4480619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384" name="Google Shape;384;p32"/>
          <p:cNvSpPr txBox="1"/>
          <p:nvPr/>
        </p:nvSpPr>
        <p:spPr>
          <a:xfrm>
            <a:off x="962025" y="4480619"/>
            <a:ext cx="1064895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00B050"/>
                </a:solidFill>
                <a:latin typeface="Urbanist"/>
                <a:ea typeface="Urbanist"/>
                <a:cs typeface="Urbanist"/>
                <a:sym typeface="Urbanist"/>
              </a:rPr>
              <a:t>Background Noise:</a:t>
            </a:r>
            <a:r>
              <a:rPr lang="en-US" sz="1500" b="0" i="0" u="none" strike="noStrike" cap="none" dirty="0">
                <a:solidFill>
                  <a:srgbClr val="00B050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Heavy system lag can jitter telemetry timestamps.</a:t>
            </a:r>
            <a:endParaRPr dirty="0"/>
          </a:p>
        </p:txBody>
      </p:sp>
      <p:sp>
        <p:nvSpPr>
          <p:cNvPr id="385" name="Google Shape;385;p32"/>
          <p:cNvSpPr txBox="1"/>
          <p:nvPr/>
        </p:nvSpPr>
        <p:spPr>
          <a:xfrm>
            <a:off x="771525" y="960387"/>
            <a:ext cx="11381422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System Limitations</a:t>
            </a:r>
            <a:endParaRPr/>
          </a:p>
        </p:txBody>
      </p:sp>
      <p:sp>
        <p:nvSpPr>
          <p:cNvPr id="386" name="Google Shape;386;p32"/>
          <p:cNvSpPr/>
          <p:nvPr/>
        </p:nvSpPr>
        <p:spPr>
          <a:xfrm>
            <a:off x="581025" y="960387"/>
            <a:ext cx="76200" cy="58102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3"/>
          <p:cNvSpPr/>
          <p:nvPr/>
        </p:nvSpPr>
        <p:spPr>
          <a:xfrm>
            <a:off x="581025" y="4328219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33"/>
          <p:cNvSpPr txBox="1"/>
          <p:nvPr/>
        </p:nvSpPr>
        <p:spPr>
          <a:xfrm>
            <a:off x="581025" y="4585394"/>
            <a:ext cx="24264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en-GB" dirty="0">
                <a:solidFill>
                  <a:schemeClr val="bg1">
                    <a:lumMod val="75000"/>
                  </a:schemeClr>
                </a:solidFill>
                <a:latin typeface="Urbanist" charset="0"/>
                <a:ea typeface="Urbanist" charset="0"/>
                <a:cs typeface="Urbanist" charset="0"/>
              </a:rPr>
              <a:t>Toggle to suspend monitoring for shared device access.</a:t>
            </a:r>
            <a:endParaRPr dirty="0">
              <a:solidFill>
                <a:schemeClr val="bg1">
                  <a:lumMod val="75000"/>
                </a:schemeClr>
              </a:solidFill>
              <a:latin typeface="Urbanist" charset="0"/>
              <a:ea typeface="Urbanist" charset="0"/>
              <a:cs typeface="Urbanist" charset="0"/>
            </a:endParaRPr>
          </a:p>
        </p:txBody>
      </p:sp>
      <p:sp>
        <p:nvSpPr>
          <p:cNvPr id="393" name="Google Shape;393;p33"/>
          <p:cNvSpPr txBox="1"/>
          <p:nvPr/>
        </p:nvSpPr>
        <p:spPr>
          <a:xfrm>
            <a:off x="3448794" y="4585394"/>
            <a:ext cx="2426493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en-GB" dirty="0">
                <a:solidFill>
                  <a:schemeClr val="bg1">
                    <a:lumMod val="75000"/>
                  </a:schemeClr>
                </a:solidFill>
                <a:latin typeface="Urbanist" charset="0"/>
                <a:ea typeface="Urbanist" charset="0"/>
                <a:cs typeface="Urbanist" charset="0"/>
              </a:rPr>
              <a:t>Intelligence upgrades to reduce </a:t>
            </a:r>
            <a:r>
              <a:rPr lang="en-GB" dirty="0" smtClean="0">
                <a:solidFill>
                  <a:schemeClr val="bg1">
                    <a:lumMod val="75000"/>
                  </a:schemeClr>
                </a:solidFill>
                <a:latin typeface="Urbanist" charset="0"/>
                <a:ea typeface="Urbanist" charset="0"/>
                <a:cs typeface="Urbanist" charset="0"/>
              </a:rPr>
              <a:t>false positive </a:t>
            </a:r>
            <a:r>
              <a:rPr lang="en-GB" dirty="0">
                <a:solidFill>
                  <a:schemeClr val="bg1">
                    <a:lumMod val="75000"/>
                  </a:schemeClr>
                </a:solidFill>
                <a:latin typeface="Urbanist" charset="0"/>
                <a:ea typeface="Urbanist" charset="0"/>
                <a:cs typeface="Urbanist" charset="0"/>
              </a:rPr>
              <a:t>triggers.</a:t>
            </a:r>
            <a:endParaRPr dirty="0">
              <a:solidFill>
                <a:schemeClr val="bg1">
                  <a:lumMod val="75000"/>
                </a:schemeClr>
              </a:solidFill>
              <a:latin typeface="Urbanist" charset="0"/>
              <a:ea typeface="Urbanist" charset="0"/>
              <a:cs typeface="Urbanist" charset="0"/>
            </a:endParaRPr>
          </a:p>
        </p:txBody>
      </p:sp>
      <p:sp>
        <p:nvSpPr>
          <p:cNvPr id="394" name="Google Shape;394;p33"/>
          <p:cNvSpPr txBox="1"/>
          <p:nvPr/>
        </p:nvSpPr>
        <p:spPr>
          <a:xfrm>
            <a:off x="6316563" y="4585394"/>
            <a:ext cx="2426493" cy="96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en-GB" dirty="0">
                <a:solidFill>
                  <a:schemeClr val="bg1">
                    <a:lumMod val="75000"/>
                  </a:schemeClr>
                </a:solidFill>
                <a:latin typeface="Urbanist" charset="0"/>
                <a:ea typeface="Urbanist" charset="0"/>
                <a:cs typeface="Urbanist" charset="0"/>
              </a:rPr>
              <a:t>Security extension to enterprise hardware and </a:t>
            </a:r>
            <a:r>
              <a:rPr lang="en-GB" dirty="0" smtClean="0">
                <a:solidFill>
                  <a:schemeClr val="bg1">
                    <a:lumMod val="75000"/>
                  </a:schemeClr>
                </a:solidFill>
                <a:latin typeface="Urbanist" charset="0"/>
                <a:ea typeface="Urbanist" charset="0"/>
                <a:cs typeface="Urbanist" charset="0"/>
              </a:rPr>
              <a:t>cloud edge</a:t>
            </a:r>
            <a:r>
              <a:rPr lang="en-GB" dirty="0">
                <a:solidFill>
                  <a:schemeClr val="bg1">
                    <a:lumMod val="75000"/>
                  </a:schemeClr>
                </a:solidFill>
                <a:latin typeface="Urbanist" charset="0"/>
                <a:ea typeface="Urbanist" charset="0"/>
                <a:cs typeface="Urbanist" charset="0"/>
              </a:rPr>
              <a:t>.</a:t>
            </a:r>
            <a:endParaRPr dirty="0">
              <a:solidFill>
                <a:schemeClr val="bg1">
                  <a:lumMod val="75000"/>
                </a:schemeClr>
              </a:solidFill>
              <a:latin typeface="Urbanist" charset="0"/>
              <a:ea typeface="Urbanist" charset="0"/>
              <a:cs typeface="Urbanist" charset="0"/>
            </a:endParaRPr>
          </a:p>
        </p:txBody>
      </p:sp>
      <p:sp>
        <p:nvSpPr>
          <p:cNvPr id="395" name="Google Shape;395;p33"/>
          <p:cNvSpPr txBox="1"/>
          <p:nvPr/>
        </p:nvSpPr>
        <p:spPr>
          <a:xfrm>
            <a:off x="9184332" y="4585394"/>
            <a:ext cx="2426493" cy="96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en-GB" dirty="0">
                <a:solidFill>
                  <a:schemeClr val="bg1">
                    <a:lumMod val="75000"/>
                  </a:schemeClr>
                </a:solidFill>
                <a:latin typeface="Urbanist" charset="0"/>
                <a:ea typeface="Urbanist" charset="0"/>
                <a:cs typeface="Urbanist" charset="0"/>
              </a:rPr>
              <a:t>Broadening support for specialized mobile and </a:t>
            </a:r>
            <a:r>
              <a:rPr lang="en-GB" dirty="0" err="1">
                <a:solidFill>
                  <a:schemeClr val="bg1">
                    <a:lumMod val="75000"/>
                  </a:schemeClr>
                </a:solidFill>
                <a:latin typeface="Urbanist" charset="0"/>
                <a:ea typeface="Urbanist" charset="0"/>
                <a:cs typeface="Urbanist" charset="0"/>
              </a:rPr>
              <a:t>IoT</a:t>
            </a:r>
            <a:r>
              <a:rPr lang="en-GB" dirty="0">
                <a:solidFill>
                  <a:schemeClr val="bg1">
                    <a:lumMod val="75000"/>
                  </a:schemeClr>
                </a:solidFill>
                <a:latin typeface="Urbanist" charset="0"/>
                <a:ea typeface="Urbanist" charset="0"/>
                <a:cs typeface="Urbanist" charset="0"/>
              </a:rPr>
              <a:t> hardware.</a:t>
            </a:r>
            <a:endParaRPr dirty="0">
              <a:solidFill>
                <a:schemeClr val="bg1">
                  <a:lumMod val="75000"/>
                </a:schemeClr>
              </a:solidFill>
              <a:latin typeface="Urbanist" charset="0"/>
              <a:ea typeface="Urbanist" charset="0"/>
              <a:cs typeface="Urbanist" charset="0"/>
            </a:endParaRPr>
          </a:p>
        </p:txBody>
      </p:sp>
      <p:sp>
        <p:nvSpPr>
          <p:cNvPr id="396" name="Google Shape;396;p33"/>
          <p:cNvSpPr txBox="1"/>
          <p:nvPr/>
        </p:nvSpPr>
        <p:spPr>
          <a:xfrm>
            <a:off x="771525" y="960387"/>
            <a:ext cx="11381422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600" b="1" i="0" u="none" strike="noStrike" cap="none" dirty="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Roadmap </a:t>
            </a:r>
            <a:r>
              <a:rPr lang="en-US" sz="3600" b="1" i="0" u="none" strike="noStrike" cap="none" dirty="0" smtClean="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to </a:t>
            </a:r>
            <a:r>
              <a:rPr lang="en-US" sz="3600" b="1" dirty="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E</a:t>
            </a:r>
            <a:r>
              <a:rPr lang="en-US" sz="3600" b="1" i="0" u="none" strike="noStrike" cap="none" dirty="0" smtClean="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nhanced </a:t>
            </a:r>
            <a:r>
              <a:rPr lang="en-US" sz="3600" b="1" dirty="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S</a:t>
            </a:r>
            <a:r>
              <a:rPr lang="en-US" sz="3600" b="1" i="0" u="none" strike="noStrike" cap="none" dirty="0" smtClean="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ecurity Architecture</a:t>
            </a:r>
            <a:endParaRPr dirty="0"/>
          </a:p>
        </p:txBody>
      </p:sp>
      <p:sp>
        <p:nvSpPr>
          <p:cNvPr id="397" name="Google Shape;397;p33"/>
          <p:cNvSpPr/>
          <p:nvPr/>
        </p:nvSpPr>
        <p:spPr>
          <a:xfrm>
            <a:off x="581025" y="960387"/>
            <a:ext cx="76200" cy="58102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33"/>
          <p:cNvSpPr txBox="1"/>
          <p:nvPr/>
        </p:nvSpPr>
        <p:spPr>
          <a:xfrm>
            <a:off x="520362" y="3629057"/>
            <a:ext cx="25479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 smtClean="0">
                <a:solidFill>
                  <a:srgbClr val="00B050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Phase 1</a:t>
            </a:r>
            <a:endParaRPr dirty="0">
              <a:solidFill>
                <a:srgbClr val="00B050"/>
              </a:solidFill>
            </a:endParaRPr>
          </a:p>
        </p:txBody>
      </p:sp>
      <p:sp>
        <p:nvSpPr>
          <p:cNvPr id="399" name="Google Shape;399;p33"/>
          <p:cNvSpPr txBox="1"/>
          <p:nvPr/>
        </p:nvSpPr>
        <p:spPr>
          <a:xfrm>
            <a:off x="3388093" y="3629057"/>
            <a:ext cx="25479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0B050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Phase 2</a:t>
            </a:r>
            <a:endParaRPr>
              <a:solidFill>
                <a:srgbClr val="00B050"/>
              </a:solidFill>
            </a:endParaRPr>
          </a:p>
        </p:txBody>
      </p:sp>
      <p:sp>
        <p:nvSpPr>
          <p:cNvPr id="400" name="Google Shape;400;p33"/>
          <p:cNvSpPr txBox="1"/>
          <p:nvPr/>
        </p:nvSpPr>
        <p:spPr>
          <a:xfrm>
            <a:off x="6255850" y="3629057"/>
            <a:ext cx="25479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0B050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Phase 3</a:t>
            </a:r>
            <a:endParaRPr>
              <a:solidFill>
                <a:srgbClr val="00B050"/>
              </a:solidFill>
            </a:endParaRPr>
          </a:p>
        </p:txBody>
      </p:sp>
      <p:sp>
        <p:nvSpPr>
          <p:cNvPr id="401" name="Google Shape;401;p33"/>
          <p:cNvSpPr txBox="1"/>
          <p:nvPr/>
        </p:nvSpPr>
        <p:spPr>
          <a:xfrm>
            <a:off x="9123595" y="3629507"/>
            <a:ext cx="25479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0B050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Phase 4</a:t>
            </a:r>
            <a:endParaRPr>
              <a:solidFill>
                <a:srgbClr val="00B050"/>
              </a:solidFill>
            </a:endParaRPr>
          </a:p>
        </p:txBody>
      </p:sp>
      <p:sp>
        <p:nvSpPr>
          <p:cNvPr id="402" name="Google Shape;402;p33"/>
          <p:cNvSpPr/>
          <p:nvPr/>
        </p:nvSpPr>
        <p:spPr>
          <a:xfrm>
            <a:off x="1603796" y="2872894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B4975A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33"/>
          <p:cNvSpPr/>
          <p:nvPr/>
        </p:nvSpPr>
        <p:spPr>
          <a:xfrm>
            <a:off x="4471529" y="2872894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B4975A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33"/>
          <p:cNvSpPr/>
          <p:nvPr/>
        </p:nvSpPr>
        <p:spPr>
          <a:xfrm>
            <a:off x="7339260" y="2872894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B4975A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33"/>
          <p:cNvSpPr/>
          <p:nvPr/>
        </p:nvSpPr>
        <p:spPr>
          <a:xfrm>
            <a:off x="10206979" y="2872907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B4975A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61730" y="3952157"/>
            <a:ext cx="206498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Urbanist" charset="0"/>
                <a:ea typeface="Urbanist" charset="0"/>
                <a:cs typeface="Urbanist" charset="0"/>
              </a:rPr>
              <a:t>Authorized Guest Mode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3782635" y="3950669"/>
            <a:ext cx="175881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Urbanist" charset="0"/>
                <a:ea typeface="Urbanist" charset="0"/>
                <a:cs typeface="Urbanist" charset="0"/>
              </a:rPr>
              <a:t>Contextual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73269" y="3950668"/>
            <a:ext cx="211307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Urbanist" charset="0"/>
                <a:ea typeface="Urbanist" charset="0"/>
                <a:cs typeface="Urbanist" charset="0"/>
              </a:rPr>
              <a:t>Infrastructure Hardening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9423494" y="3950667"/>
            <a:ext cx="194796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Urbanist" charset="0"/>
                <a:ea typeface="Urbanist" charset="0"/>
                <a:cs typeface="Urbanist" charset="0"/>
              </a:rPr>
              <a:t>Ecosystem Expansion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" name="Google Shape;410;p3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3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842319"/>
            <a:ext cx="11029950" cy="2514600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34"/>
          <p:cNvSpPr txBox="1"/>
          <p:nvPr/>
        </p:nvSpPr>
        <p:spPr>
          <a:xfrm>
            <a:off x="615315" y="3404294"/>
            <a:ext cx="1096137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00B050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WONTX AI: The Future of Passive Identity</a:t>
            </a:r>
            <a:endParaRPr dirty="0">
              <a:solidFill>
                <a:srgbClr val="00B050"/>
              </a:solidFill>
            </a:endParaRPr>
          </a:p>
        </p:txBody>
      </p:sp>
      <p:sp>
        <p:nvSpPr>
          <p:cNvPr id="413" name="Google Shape;413;p34"/>
          <p:cNvSpPr txBox="1"/>
          <p:nvPr/>
        </p:nvSpPr>
        <p:spPr>
          <a:xfrm>
            <a:off x="876300" y="3918644"/>
            <a:ext cx="1043940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We have successfully moved from </a:t>
            </a:r>
            <a:r>
              <a:rPr lang="en-US" sz="1500" b="1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Static Credentials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smtClean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to </a:t>
            </a:r>
            <a:r>
              <a:rPr lang="en-US" sz="1500" b="1" i="0" u="none" strike="noStrike" cap="none" dirty="0" smtClean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Habits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sp>
        <p:nvSpPr>
          <p:cNvPr id="414" name="Google Shape;414;p34"/>
          <p:cNvSpPr txBox="1"/>
          <p:nvPr/>
        </p:nvSpPr>
        <p:spPr>
          <a:xfrm>
            <a:off x="876300" y="4394894"/>
            <a:ext cx="104394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By leveraging Reinforcement Learning, we create a living security model that adapts as the user grows, ensuring that the human-machine interface is as secure as the data behind it.</a:t>
            </a:r>
            <a:endParaRPr/>
          </a:p>
        </p:txBody>
      </p:sp>
      <p:sp>
        <p:nvSpPr>
          <p:cNvPr id="415" name="Google Shape;415;p34"/>
          <p:cNvSpPr txBox="1"/>
          <p:nvPr/>
        </p:nvSpPr>
        <p:spPr>
          <a:xfrm>
            <a:off x="771525" y="960387"/>
            <a:ext cx="11381422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Conclusion</a:t>
            </a:r>
            <a:endParaRPr/>
          </a:p>
        </p:txBody>
      </p:sp>
      <p:sp>
        <p:nvSpPr>
          <p:cNvPr id="416" name="Google Shape;416;p34"/>
          <p:cNvSpPr/>
          <p:nvPr/>
        </p:nvSpPr>
        <p:spPr>
          <a:xfrm>
            <a:off x="581025" y="960387"/>
            <a:ext cx="76200" cy="58102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" name="Google Shape;410;p3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422;p35"/>
          <p:cNvSpPr txBox="1"/>
          <p:nvPr/>
        </p:nvSpPr>
        <p:spPr>
          <a:xfrm>
            <a:off x="305276" y="1971675"/>
            <a:ext cx="11581447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00B050"/>
                </a:solidFill>
                <a:latin typeface="Space Grotesk"/>
                <a:ea typeface="Space Grotesk"/>
                <a:cs typeface="Space Grotesk"/>
                <a:sym typeface="Space Grotesk"/>
              </a:rPr>
              <a:t>QUESTIONS?</a:t>
            </a:r>
            <a:endParaRPr dirty="0">
              <a:solidFill>
                <a:srgbClr val="00B050"/>
              </a:solidFill>
            </a:endParaRPr>
          </a:p>
        </p:txBody>
      </p:sp>
      <p:sp>
        <p:nvSpPr>
          <p:cNvPr id="10" name="Google Shape;423;p35"/>
          <p:cNvSpPr txBox="1"/>
          <p:nvPr/>
        </p:nvSpPr>
        <p:spPr>
          <a:xfrm>
            <a:off x="581025" y="2924175"/>
            <a:ext cx="110299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Thank you for your attention.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71722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453</TotalTime>
  <Words>893</Words>
  <Application>Microsoft Office PowerPoint</Application>
  <PresentationFormat>Custom</PresentationFormat>
  <Paragraphs>145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Space Grotesk</vt:lpstr>
      <vt:lpstr>Urbanist</vt:lpstr>
      <vt:lpstr>Urbanist Medium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Areej Fatima</cp:lastModifiedBy>
  <cp:revision>20</cp:revision>
  <dcterms:modified xsi:type="dcterms:W3CDTF">2026-06-07T06:08:22Z</dcterms:modified>
</cp:coreProperties>
</file>